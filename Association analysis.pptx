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0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5.xml" ContentType="application/inkml+xml"/>
  <Override PartName="/ppt/notesSlides/notesSlide26.xml" ContentType="application/vnd.openxmlformats-officedocument.presentationml.notesSlide+xml"/>
  <Override PartName="/ppt/ink/ink6.xml" ContentType="application/inkml+xml"/>
  <Override PartName="/ppt/notesSlides/notesSlide27.xml" ContentType="application/vnd.openxmlformats-officedocument.presentationml.notesSlide+xml"/>
  <Override PartName="/ppt/ink/ink7.xml" ContentType="application/inkml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319" r:id="rId2"/>
    <p:sldId id="325" r:id="rId3"/>
    <p:sldId id="258" r:id="rId4"/>
    <p:sldId id="259" r:id="rId5"/>
    <p:sldId id="270" r:id="rId6"/>
    <p:sldId id="261" r:id="rId7"/>
    <p:sldId id="271" r:id="rId8"/>
    <p:sldId id="272" r:id="rId9"/>
    <p:sldId id="273" r:id="rId10"/>
    <p:sldId id="274" r:id="rId11"/>
    <p:sldId id="263" r:id="rId12"/>
    <p:sldId id="275" r:id="rId13"/>
    <p:sldId id="276" r:id="rId14"/>
    <p:sldId id="277" r:id="rId15"/>
    <p:sldId id="278" r:id="rId16"/>
    <p:sldId id="279" r:id="rId17"/>
    <p:sldId id="280" r:id="rId18"/>
    <p:sldId id="264" r:id="rId19"/>
    <p:sldId id="281" r:id="rId20"/>
    <p:sldId id="282" r:id="rId21"/>
    <p:sldId id="300" r:id="rId22"/>
    <p:sldId id="265" r:id="rId23"/>
    <p:sldId id="266" r:id="rId24"/>
    <p:sldId id="268" r:id="rId25"/>
    <p:sldId id="317" r:id="rId26"/>
    <p:sldId id="283" r:id="rId27"/>
    <p:sldId id="302" r:id="rId28"/>
    <p:sldId id="285" r:id="rId29"/>
    <p:sldId id="286" r:id="rId30"/>
    <p:sldId id="311" r:id="rId31"/>
    <p:sldId id="312" r:id="rId32"/>
    <p:sldId id="313" r:id="rId33"/>
    <p:sldId id="327" r:id="rId34"/>
    <p:sldId id="288" r:id="rId35"/>
    <p:sldId id="289" r:id="rId36"/>
    <p:sldId id="315" r:id="rId37"/>
    <p:sldId id="290" r:id="rId38"/>
    <p:sldId id="291" r:id="rId39"/>
    <p:sldId id="326" r:id="rId40"/>
    <p:sldId id="292" r:id="rId41"/>
    <p:sldId id="293" r:id="rId42"/>
    <p:sldId id="294" r:id="rId43"/>
    <p:sldId id="295" r:id="rId44"/>
    <p:sldId id="297" r:id="rId45"/>
    <p:sldId id="320" r:id="rId46"/>
    <p:sldId id="323" r:id="rId47"/>
    <p:sldId id="298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488"/>
  </p:normalViewPr>
  <p:slideViewPr>
    <p:cSldViewPr>
      <p:cViewPr varScale="1">
        <p:scale>
          <a:sx n="127" d="100"/>
          <a:sy n="127" d="100"/>
        </p:scale>
        <p:origin x="3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32:37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24575,'0'3'0,"0"-1"0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32:39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32:37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24575,'0'3'0,"0"-1"0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32:39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2:53:15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2:53:15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2:53:15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696E9-1A92-4715-98AF-F5E89AC56995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8341E-B8C7-4A97-85B4-08993E1F9E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CD3EB0-5374-4705-9F9C-77A3C9541380}" type="slidenum">
              <a:rPr lang="en-US" smtClean="0">
                <a:latin typeface="Arial" pitchFamily="34" charset="0"/>
                <a:cs typeface="Arial" pitchFamily="34" charset="0"/>
              </a:rPr>
              <a:pPr/>
              <a:t>7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666BEF-3234-4CF3-86C2-93EA252F4F4A}" type="slidenum">
              <a:rPr lang="en-US" smtClean="0">
                <a:latin typeface="Arial" pitchFamily="34" charset="0"/>
                <a:cs typeface="Arial" pitchFamily="34" charset="0"/>
              </a:rPr>
              <a:pPr/>
              <a:t>8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666BEF-3234-4CF3-86C2-93EA252F4F4A}" type="slidenum">
              <a:rPr lang="en-US" smtClean="0">
                <a:latin typeface="Arial" pitchFamily="34" charset="0"/>
                <a:cs typeface="Arial" pitchFamily="34" charset="0"/>
              </a:rPr>
              <a:pPr/>
              <a:t>9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D75766-A02D-4ED6-8BB4-040B5A194FE4}" type="slidenum">
              <a:rPr lang="en-US" smtClean="0">
                <a:latin typeface="Arial" pitchFamily="34" charset="0"/>
                <a:cs typeface="Arial" pitchFamily="34" charset="0"/>
              </a:rPr>
              <a:pPr/>
              <a:t>10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D832A0-C368-438F-8E1A-2EC3DE8BC7FC}" type="slidenum">
              <a:rPr lang="en-US" smtClean="0">
                <a:latin typeface="Arial" pitchFamily="34" charset="0"/>
                <a:cs typeface="Arial" pitchFamily="34" charset="0"/>
              </a:rPr>
              <a:pPr/>
              <a:t>12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4FE51C-A9CE-4D7D-B622-03E5114F22C4}" type="slidenum">
              <a:rPr lang="en-US" smtClean="0">
                <a:latin typeface="Arial" pitchFamily="34" charset="0"/>
                <a:cs typeface="Arial" pitchFamily="34" charset="0"/>
              </a:rPr>
              <a:pPr/>
              <a:t>13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F80B42-C4A6-4777-99E8-23A60F2ADB13}" type="slidenum">
              <a:rPr lang="en-US" smtClean="0">
                <a:latin typeface="Arial" pitchFamily="34" charset="0"/>
                <a:cs typeface="Arial" pitchFamily="34" charset="0"/>
              </a:rPr>
              <a:pPr/>
              <a:t>14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9D3CBF-2659-49B4-AFE8-894600D7D0C4}" type="slidenum">
              <a:rPr lang="en-US" smtClean="0">
                <a:latin typeface="Arial" pitchFamily="34" charset="0"/>
                <a:cs typeface="Arial" pitchFamily="34" charset="0"/>
              </a:rPr>
              <a:pPr/>
              <a:t>15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3FD372-E2AF-4206-8178-D3CA4DA3F1E8}" type="slidenum">
              <a:rPr lang="en-US" smtClean="0">
                <a:latin typeface="Arial" pitchFamily="34" charset="0"/>
                <a:cs typeface="Arial" pitchFamily="34" charset="0"/>
              </a:rPr>
              <a:pPr/>
              <a:t>16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706F3C-F132-4F52-8906-E1173F6BB581}" type="slidenum">
              <a:rPr lang="en-US" smtClean="0">
                <a:latin typeface="Arial" pitchFamily="34" charset="0"/>
                <a:cs typeface="Arial" pitchFamily="34" charset="0"/>
              </a:rPr>
              <a:pPr/>
              <a:t>17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906E62-FC95-4C75-9975-ADA8B1DEBDE6}" type="slidenum">
              <a:rPr lang="en-US" smtClean="0">
                <a:latin typeface="Arial" pitchFamily="34" charset="0"/>
                <a:cs typeface="Arial" pitchFamily="34" charset="0"/>
              </a:rPr>
              <a:pPr/>
              <a:t>19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18" y="4343703"/>
            <a:ext cx="5031878" cy="4112381"/>
          </a:xfrm>
          <a:noFill/>
          <a:ln/>
        </p:spPr>
        <p:txBody>
          <a:bodyPr/>
          <a:lstStyle/>
          <a:p>
            <a:pPr defTabSz="911482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C42786-3E23-4516-BCAE-C35E50760FB4}" type="slidenum">
              <a:rPr lang="en-US" smtClean="0">
                <a:latin typeface="Arial" pitchFamily="34" charset="0"/>
                <a:cs typeface="Arial" pitchFamily="34" charset="0"/>
              </a:rPr>
              <a:pPr/>
              <a:t>20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A50559-29C2-4D14-BC70-3C58FEE1097D}" type="slidenum">
              <a:rPr lang="en-US" smtClean="0">
                <a:latin typeface="Arial" pitchFamily="34" charset="0"/>
                <a:cs typeface="Arial" pitchFamily="34" charset="0"/>
              </a:rPr>
              <a:pPr/>
              <a:t>26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F4A699-E46A-44B0-9D43-8712A8D6EA05}" type="slidenum">
              <a:rPr lang="en-US"/>
              <a:pPr/>
              <a:t>29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B78E6E-20DE-4625-BD25-D8C4323E93D2}" type="slidenum">
              <a:rPr lang="en-US"/>
              <a:pPr/>
              <a:t>34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33BA58-F138-4BDA-A296-4BB432689133}" type="slidenum">
              <a:rPr lang="en-US"/>
              <a:pPr/>
              <a:t>35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ADD86A-F854-4690-9E3F-31322C0BC491}" type="slidenum">
              <a:rPr lang="en-US"/>
              <a:pPr/>
              <a:t>36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ADD86A-F854-4690-9E3F-31322C0BC491}" type="slidenum">
              <a:rPr lang="en-US"/>
              <a:pPr/>
              <a:t>37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C24900-0BBE-47AE-A555-94D2678A81CB}" type="slidenum">
              <a:rPr lang="en-US"/>
              <a:pPr/>
              <a:t>38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720C-9136-7CE9-A566-57639AE9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E9C79798-5F10-A105-8B35-C10F867BA5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C24900-0BBE-47AE-A555-94D2678A81CB}" type="slidenum">
              <a:rPr lang="en-US"/>
              <a:pPr/>
              <a:t>39</a:t>
            </a:fld>
            <a:endParaRPr lang="en-US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2A0AFEC7-6242-1B10-23F7-BE0BAF9DC9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045F6C4-7D8E-D9DC-1AED-6016487B7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44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C60AA4-661C-4513-899F-DB464D93A13C}" type="slidenum">
              <a:rPr lang="en-US"/>
              <a:pPr/>
              <a:t>40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AA3E41-1D37-4AE5-9963-E441B23D65FE}" type="slidenum">
              <a:rPr lang="en-US"/>
              <a:pPr/>
              <a:t>41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CC112E-4435-468E-8429-44656D178E0D}" type="slidenum">
              <a:rPr lang="en-US"/>
              <a:pPr/>
              <a:t>42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1B08B-A902-4B97-86B1-001E2640458A}" type="slidenum">
              <a:rPr lang="en-US"/>
              <a:pPr/>
              <a:t>43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564886-10BF-4DE9-9590-C97B6F2DE861}" type="slidenum">
              <a:rPr lang="en-US"/>
              <a:pPr/>
              <a:t>44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8ED05-5EBA-3288-1742-83287915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509D0DB0-93E5-574D-9284-CDDC8F882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564886-10BF-4DE9-9590-C97B6F2DE861}" type="slidenum">
              <a:rPr lang="en-US"/>
              <a:pPr/>
              <a:t>45</a:t>
            </a:fld>
            <a:endParaRPr lang="en-US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29D2EE9C-AF75-A32D-E2A2-26F01A655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CEB9B536-4A30-D237-F4D2-227C43F05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17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C600-2E79-640D-6AEE-D7FE257D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4483F7A5-E05D-2AF7-5F95-A4062B179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564886-10BF-4DE9-9590-C97B6F2DE861}" type="slidenum">
              <a:rPr lang="en-US"/>
              <a:pPr/>
              <a:t>46</a:t>
            </a:fld>
            <a:endParaRPr lang="en-US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DA077CA3-2BD6-E259-8E45-6D41090196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F4FC01F-11EF-8955-3FBD-E21C230D6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51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3E25FA-0A05-4E64-B717-E2203488336B}" type="slidenum">
              <a:rPr lang="en-US"/>
              <a:pPr/>
              <a:t>47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C42FD-2BEF-475B-99E0-EE1806E937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26003-DD3A-4FAC-AFE5-8DADE59B60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BB7C9-38F3-4D58-97E4-3FECAFE957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.e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22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4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30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97F0-9651-4B72-C0BE-4FC70898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4EF0-2A82-A9A1-07F1-4D72632EE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Mining and Data Warehousing</a:t>
            </a:r>
          </a:p>
        </p:txBody>
      </p:sp>
    </p:spTree>
    <p:extLst>
      <p:ext uri="{BB962C8B-B14F-4D97-AF65-F5344CB8AC3E}">
        <p14:creationId xmlns:p14="http://schemas.microsoft.com/office/powerpoint/2010/main" val="46815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9F65-3A97-B8BB-AF13-F48F1065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578"/>
            <a:ext cx="8229600" cy="1143000"/>
          </a:xfrm>
        </p:spPr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F8919-E420-A4EB-D822-AF961DB21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516562"/>
          </a:xfrm>
        </p:spPr>
        <p:txBody>
          <a:bodyPr>
            <a:normAutofit/>
          </a:bodyPr>
          <a:lstStyle/>
          <a:p>
            <a:pPr algn="just"/>
            <a:r>
              <a:rPr lang="en-IN" sz="2800" dirty="0"/>
              <a:t>Suppose you are a manager in a supermarket. You have thousands of transaction records. Each transaction contains items purchased together by a customer.</a:t>
            </a:r>
          </a:p>
          <a:p>
            <a:pPr algn="just"/>
            <a:r>
              <a:rPr lang="en-IN" sz="2800" dirty="0"/>
              <a:t>The question is: Can we discover patterns in customer purchasing behaviour?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Which items are frequently bought together?</a:t>
            </a:r>
            <a:endParaRPr lang="en-IN" dirty="0">
              <a:solidFill>
                <a:srgbClr val="FF0000"/>
              </a:solidFill>
            </a:endParaRPr>
          </a:p>
          <a:p>
            <a:pPr algn="just"/>
            <a:endParaRPr lang="en-IN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D724C22-9372-0C34-A872-85F4C3820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625885"/>
              </p:ext>
            </p:extLst>
          </p:nvPr>
        </p:nvGraphicFramePr>
        <p:xfrm>
          <a:off x="2857500" y="3657600"/>
          <a:ext cx="33528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9338" imgH="2015504" progId="Word.Document.8">
                  <p:embed/>
                </p:oleObj>
              </mc:Choice>
              <mc:Fallback>
                <p:oleObj name="Document" r:id="rId2" imgW="3359338" imgH="2015504" progId="Word.Document.8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657600"/>
                        <a:ext cx="3352800" cy="2043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734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Association Analysis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534400" cy="5638800"/>
          </a:xfrm>
          <a:noFill/>
          <a:ln/>
        </p:spPr>
        <p:txBody>
          <a:bodyPr lIns="92075" tIns="46038" rIns="92075" bIns="46038">
            <a:normAutofit fontScale="850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Association rule analysis is a data mining technique used to discover relationships or associations among items in large datasets. 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discovered relationships between items are called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association rules. 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Association rules help identify patterns of co-occurrence, meaning which items are frequently purchased or used together.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to mine association rules?</a:t>
            </a:r>
          </a:p>
          <a:p>
            <a:pPr lvl="1" algn="just">
              <a:lnSpc>
                <a:spcPct val="16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Scenario:</a:t>
            </a:r>
          </a:p>
          <a:p>
            <a:pPr lvl="2"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You are a sales manager </a:t>
            </a:r>
          </a:p>
          <a:p>
            <a:pPr lvl="2"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Customer bought a pc and a digital camera recently</a:t>
            </a:r>
          </a:p>
          <a:p>
            <a:pPr lvl="2"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should you recommend to her next?</a:t>
            </a:r>
          </a:p>
          <a:p>
            <a:pPr lvl="2"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Association rules are helpful in making your recommendation.</a:t>
            </a: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3D1914-24E8-3B27-3E09-CB36F4FEF43C}"/>
              </a:ext>
            </a:extLst>
          </p:cNvPr>
          <p:cNvSpPr txBox="1"/>
          <p:nvPr/>
        </p:nvSpPr>
        <p:spPr>
          <a:xfrm>
            <a:off x="7162800" y="1600200"/>
            <a:ext cx="1456040" cy="369332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Milk → Bread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Autofit/>
          </a:bodyPr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How do we know which rules are meaningful?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 patterns (item sets): 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Frequent patterns are patterns that appear frequently in a dataset.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Database Example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market basket dataset, the itemset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{milk, bread}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appear frequently in many transactions.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{milk, bread}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considered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itemset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Pattern Example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shopping history database, customers may frequently purchase: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→ Digital Camera → Memory Card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sequence represents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sequential pattern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Frequent pattern mining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Frequent pattern mining</a:t>
            </a:r>
            <a:r>
              <a:rPr lang="en-IN" sz="2800" dirty="0">
                <a:solidFill>
                  <a:srgbClr val="FF0000"/>
                </a:solidFill>
              </a:rPr>
              <a:t> is the task of discovering </a:t>
            </a:r>
            <a:r>
              <a:rPr lang="en-IN" sz="2800" b="1" dirty="0">
                <a:solidFill>
                  <a:srgbClr val="FF0000"/>
                </a:solidFill>
              </a:rPr>
              <a:t>all </a:t>
            </a:r>
            <a:r>
              <a:rPr lang="en-IN" sz="2800" b="1" dirty="0" err="1">
                <a:solidFill>
                  <a:srgbClr val="FF0000"/>
                </a:solidFill>
              </a:rPr>
              <a:t>itemsets</a:t>
            </a:r>
            <a:r>
              <a:rPr lang="en-IN" sz="2800" b="1" dirty="0">
                <a:solidFill>
                  <a:srgbClr val="FF0000"/>
                </a:solidFill>
              </a:rPr>
              <a:t> that occur frequently in a dataset</a:t>
            </a:r>
            <a:r>
              <a:rPr lang="en-IN" sz="2800" dirty="0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Frequent pattern mining for the discovery of interesting associations between item sets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Such associations can be applicable in many business decision making processes such as: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Catalog design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Market Basket analysis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Cross-marketing,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Sale campaign analysis,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Web log (click stream) analysis,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Market Basket analysis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typical example of frequent pattern(item set) mining for association rules.</a:t>
            </a:r>
            <a:b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534400" cy="5410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Market basket analysis analyzes customer buying habits by finding associations between the different items that customers place in their shopping baskets.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590800"/>
            <a:ext cx="62103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410200" y="2990046"/>
            <a:ext cx="347184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Applications:</a:t>
            </a:r>
            <a:r>
              <a:rPr lang="en-US" sz="1400" dirty="0"/>
              <a:t> To make marketing strategies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200" y="2133600"/>
            <a:ext cx="347184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</a:rPr>
              <a:t>Example of Association Rule:</a:t>
            </a:r>
          </a:p>
          <a:p>
            <a:r>
              <a:rPr lang="en-US" dirty="0">
                <a:latin typeface="Arial" pitchFamily="34" charset="0"/>
              </a:rPr>
              <a:t>milk</a:t>
            </a:r>
            <a:r>
              <a:rPr lang="en-US" dirty="0">
                <a:latin typeface="Arial" pitchFamily="34" charset="0"/>
                <a:sym typeface="Symbol" pitchFamily="18" charset="2"/>
              </a:rPr>
              <a:t>  bread</a:t>
            </a:r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18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Itemset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609600"/>
            <a:ext cx="5181600" cy="57912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Itemset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collection of one or more items</a:t>
            </a:r>
          </a:p>
          <a:p>
            <a:pPr lvl="2" eaLnBrk="1" hangingPunct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{Milk, Bread, Diaper}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itemset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itemset that contains k items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Support count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)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Frequency of occurrence of an itemset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E.g.  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({Milk, Bread, Diaper}) = 2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Support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Fraction of transactions that contain an itemset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E.g.   s({Milk, Bread, Diaper}) = 2/5</a:t>
            </a:r>
          </a:p>
          <a:p>
            <a:pPr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Frequent Itemset</a:t>
            </a:r>
          </a:p>
          <a:p>
            <a:pPr lvl="1"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 itemset whose support is greater than or equal to a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minsup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threshold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type="clipArt" sz="half" idx="2"/>
            <p:extLst>
              <p:ext uri="{D42A27DB-BD31-4B8C-83A1-F6EECF244321}">
                <p14:modId xmlns:p14="http://schemas.microsoft.com/office/powerpoint/2010/main" val="1396156160"/>
              </p:ext>
            </p:extLst>
          </p:nvPr>
        </p:nvGraphicFramePr>
        <p:xfrm>
          <a:off x="5638800" y="2544762"/>
          <a:ext cx="33528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544762"/>
                        <a:ext cx="3352800" cy="2043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56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Definition: Association Rule</a:t>
            </a:r>
          </a:p>
        </p:txBody>
      </p:sp>
      <p:sp>
        <p:nvSpPr>
          <p:cNvPr id="415752" name="Rectangle 8"/>
          <p:cNvSpPr>
            <a:spLocks noChangeArrowheads="1"/>
          </p:cNvSpPr>
          <p:nvPr/>
        </p:nvSpPr>
        <p:spPr bwMode="auto">
          <a:xfrm>
            <a:off x="381000" y="609600"/>
            <a:ext cx="8382000" cy="6172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Association Rule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 implication expression of the form X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Y, where X and Y are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itemsets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e.g.,</a:t>
            </a:r>
            <a:endParaRPr lang="en-US" sz="1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not very difficult to develop algorithms that will find this associations in a large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such an algorithm will also uncover many other associations that are of very little value.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introduce some measures to distinguish interesting associations from non-interesting ones.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10572"/>
              </p:ext>
            </p:extLst>
          </p:nvPr>
        </p:nvGraphicFramePr>
        <p:xfrm>
          <a:off x="3075781" y="1676400"/>
          <a:ext cx="27638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203040" progId="Equation.3">
                  <p:embed/>
                </p:oleObj>
              </mc:Choice>
              <mc:Fallback>
                <p:oleObj name="Equation" r:id="rId3" imgW="146016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781" y="1676400"/>
                        <a:ext cx="2763838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56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Definition: Association Rule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65725" y="3886200"/>
            <a:ext cx="3978275" cy="2527300"/>
            <a:chOff x="3014" y="2304"/>
            <a:chExt cx="2506" cy="1592"/>
          </a:xfrm>
        </p:grpSpPr>
        <p:sp>
          <p:nvSpPr>
            <p:cNvPr id="4105" name="Text Box 4"/>
            <p:cNvSpPr txBox="1">
              <a:spLocks noChangeArrowheads="1"/>
            </p:cNvSpPr>
            <p:nvPr/>
          </p:nvSpPr>
          <p:spPr bwMode="auto">
            <a:xfrm>
              <a:off x="3264" y="2304"/>
              <a:ext cx="67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Example:</a:t>
              </a:r>
              <a:endParaRPr lang="en-US" sz="2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4099" name="Object 5"/>
            <p:cNvGraphicFramePr>
              <a:graphicFrameLocks noChangeAspect="1"/>
            </p:cNvGraphicFramePr>
            <p:nvPr/>
          </p:nvGraphicFramePr>
          <p:xfrm>
            <a:off x="3779" y="2545"/>
            <a:ext cx="174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60160" imgH="203040" progId="Equation.3">
                    <p:embed/>
                  </p:oleObj>
                </mc:Choice>
                <mc:Fallback>
                  <p:oleObj name="Equation" r:id="rId3" imgW="1460160" imgH="2030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2545"/>
                          <a:ext cx="1741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6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317840" imgH="787320" progId="Equation.3">
                    <p:embed/>
                  </p:oleObj>
                </mc:Choice>
                <mc:Fallback>
                  <p:oleObj name="Equation" r:id="rId5" imgW="4317840" imgH="78732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" name="Object 7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470120" imgH="787320" progId="Equation.3">
                    <p:embed/>
                  </p:oleObj>
                </mc:Choice>
                <mc:Fallback>
                  <p:oleObj name="Equation" r:id="rId7" imgW="4470120" imgH="7873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5752" name="Rectangle 8"/>
          <p:cNvSpPr>
            <a:spLocks noChangeArrowheads="1"/>
          </p:cNvSpPr>
          <p:nvPr/>
        </p:nvSpPr>
        <p:spPr bwMode="auto">
          <a:xfrm>
            <a:off x="49211" y="762000"/>
            <a:ext cx="4827589" cy="5943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Rule Evaluation Metrics</a:t>
            </a:r>
            <a:endParaRPr lang="en-US" sz="20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2857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 (s)</a:t>
            </a:r>
          </a:p>
          <a:p>
            <a:pPr marL="685800" lvl="1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Fraction of transactions that contain both X and Y</a:t>
            </a:r>
          </a:p>
          <a:p>
            <a:pPr marL="685800" lvl="1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Alternatively, </a:t>
            </a: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support, </a:t>
            </a:r>
            <a:r>
              <a:rPr lang="en-US" sz="2400" i="1" dirty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>
                <a:solidFill>
                  <a:schemeClr val="tx2"/>
                </a:solidFill>
                <a:sym typeface="Symbol" pitchFamily="18" charset="2"/>
              </a:rPr>
              <a:t>probability</a:t>
            </a:r>
            <a:r>
              <a:rPr lang="en-US" sz="2400" dirty="0">
                <a:sym typeface="Symbol" pitchFamily="18" charset="2"/>
              </a:rPr>
              <a:t> that a transaction contains {X  Y}</a:t>
            </a:r>
          </a:p>
          <a:p>
            <a:pPr marL="685800" lvl="1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Confidence (c)</a:t>
            </a:r>
          </a:p>
          <a:p>
            <a:pPr marL="685800" lvl="1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Measures how often items in Y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appear in transactions that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contain X</a:t>
            </a:r>
          </a:p>
          <a:p>
            <a:pPr marL="685800" lvl="1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Alternatively, confidence, </a:t>
            </a:r>
            <a:r>
              <a:rPr lang="en-US" sz="2000" i="1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sz="2000" i="1" dirty="0">
                <a:sym typeface="Symbol" pitchFamily="18" charset="2"/>
              </a:rPr>
              <a:t>,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conditional probability</a:t>
            </a:r>
            <a:r>
              <a:rPr lang="en-US" sz="2000" dirty="0">
                <a:sym typeface="Symbol" pitchFamily="18" charset="2"/>
              </a:rPr>
              <a:t> that a transaction having X also contains Y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098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5410200" y="1295400"/>
          <a:ext cx="35877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3359338" imgH="2015504" progId="Word.Document.8">
                  <p:embed/>
                </p:oleObj>
              </mc:Choice>
              <mc:Fallback>
                <p:oleObj name="Document" r:id="rId9" imgW="3359338" imgH="2015504" progId="Word.Document.8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358775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2243484" y="965658"/>
            <a:ext cx="4504631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just" eaLnBrk="1" hangingPunct="1">
              <a:spcBef>
                <a:spcPct val="0"/>
              </a:spcBef>
            </a:pPr>
            <a:r>
              <a:rPr lang="en-US" sz="2400" u="sng" dirty="0">
                <a:cs typeface="Times New Roman" pitchFamily="18" charset="0"/>
              </a:rPr>
              <a:t>TID	date		</a:t>
            </a:r>
            <a:r>
              <a:rPr lang="en-US" sz="2400" u="sng" dirty="0" err="1">
                <a:cs typeface="Times New Roman" pitchFamily="18" charset="0"/>
              </a:rPr>
              <a:t>items_bought</a:t>
            </a:r>
            <a:endParaRPr lang="en-US" sz="2400" u="sng" dirty="0">
              <a:cs typeface="Times New Roman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Arial" pitchFamily="34" charset="0"/>
                <a:cs typeface="Times New Roman" pitchFamily="18" charset="0"/>
              </a:rPr>
              <a:t>100	10/10/99		{F,A,D,B}</a:t>
            </a:r>
            <a:endParaRPr lang="en-US" sz="2400" dirty="0">
              <a:latin typeface="Arial" pitchFamily="34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Arial" pitchFamily="34" charset="0"/>
                <a:cs typeface="Times New Roman" pitchFamily="18" charset="0"/>
              </a:rPr>
              <a:t>200	15/10/99		{D,A,C,E,B}</a:t>
            </a:r>
            <a:endParaRPr lang="en-US" sz="2400" dirty="0">
              <a:latin typeface="Arial" pitchFamily="34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Arial" pitchFamily="34" charset="0"/>
                <a:cs typeface="Times New Roman" pitchFamily="18" charset="0"/>
              </a:rPr>
              <a:t>300	19/10/99		{C,A,B,E}</a:t>
            </a:r>
            <a:endParaRPr lang="en-US" sz="2400" dirty="0">
              <a:latin typeface="Arial" pitchFamily="34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Arial" pitchFamily="34" charset="0"/>
                <a:cs typeface="Times New Roman" pitchFamily="18" charset="0"/>
              </a:rPr>
              <a:t>400	20/10/99		{B,A,D}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27458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/>
              <a:t>Example1</a:t>
            </a:r>
            <a:endParaRPr lang="en-US" b="1" dirty="0"/>
          </a:p>
        </p:txBody>
      </p:sp>
      <p:sp>
        <p:nvSpPr>
          <p:cNvPr id="615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04799" y="2674937"/>
            <a:ext cx="8382000" cy="830263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What is the </a:t>
            </a:r>
            <a:r>
              <a:rPr lang="en-US" sz="2400" dirty="0">
                <a:solidFill>
                  <a:srgbClr val="0000FF"/>
                </a:solidFill>
              </a:rPr>
              <a:t>support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confidence</a:t>
            </a:r>
            <a:r>
              <a:rPr lang="en-US" sz="2400" dirty="0"/>
              <a:t> of the rule: {B,D} </a:t>
            </a:r>
            <a:r>
              <a:rPr lang="en-US" sz="2400" dirty="0">
                <a:sym typeface="Symbol" pitchFamily="18" charset="2"/>
              </a:rPr>
              <a:t> {A}</a:t>
            </a:r>
          </a:p>
        </p:txBody>
      </p:sp>
      <p:sp>
        <p:nvSpPr>
          <p:cNvPr id="444421" name="Rectangle 5"/>
          <p:cNvSpPr>
            <a:spLocks noChangeArrowheads="1"/>
          </p:cNvSpPr>
          <p:nvPr/>
        </p:nvSpPr>
        <p:spPr bwMode="auto">
          <a:xfrm>
            <a:off x="457200" y="3612356"/>
            <a:ext cx="8686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000" dirty="0">
                <a:latin typeface="Verdana" pitchFamily="34" charset="0"/>
                <a:sym typeface="Symbol" pitchFamily="18" charset="2"/>
              </a:rPr>
              <a:t>Support: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latin typeface="Verdana" pitchFamily="34" charset="0"/>
                <a:sym typeface="Symbol" pitchFamily="18" charset="2"/>
              </a:rPr>
              <a:t>percentage of </a:t>
            </a:r>
            <a:r>
              <a:rPr lang="en-US" dirty="0" err="1">
                <a:latin typeface="Verdana" pitchFamily="34" charset="0"/>
                <a:sym typeface="Symbol" pitchFamily="18" charset="2"/>
              </a:rPr>
              <a:t>tuples</a:t>
            </a:r>
            <a:r>
              <a:rPr lang="en-US" dirty="0">
                <a:latin typeface="Verdana" pitchFamily="34" charset="0"/>
                <a:sym typeface="Symbol" pitchFamily="18" charset="2"/>
              </a:rPr>
              <a:t> that contain {A,B,D} =</a:t>
            </a: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auto">
          <a:xfrm>
            <a:off x="457200" y="4587478"/>
            <a:ext cx="8686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000" dirty="0">
                <a:latin typeface="Verdana" pitchFamily="34" charset="0"/>
                <a:sym typeface="Symbol" pitchFamily="18" charset="2"/>
              </a:rPr>
              <a:t>Confidence: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US" dirty="0">
              <a:latin typeface="Verdana" pitchFamily="34" charset="0"/>
              <a:sym typeface="Symbol" pitchFamily="18" charset="2"/>
            </a:endParaRPr>
          </a:p>
        </p:txBody>
      </p:sp>
      <p:graphicFrame>
        <p:nvGraphicFramePr>
          <p:cNvPr id="444423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00055219"/>
              </p:ext>
            </p:extLst>
          </p:nvPr>
        </p:nvGraphicFramePr>
        <p:xfrm>
          <a:off x="2212440" y="5287764"/>
          <a:ext cx="5324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360" imgH="419040" progId="Equation.3">
                  <p:embed/>
                </p:oleObj>
              </mc:Choice>
              <mc:Fallback>
                <p:oleObj name="Equation" r:id="rId3" imgW="256536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440" y="5287764"/>
                        <a:ext cx="5324475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4" name="Rectangle 8"/>
          <p:cNvSpPr>
            <a:spLocks noChangeArrowheads="1"/>
          </p:cNvSpPr>
          <p:nvPr/>
        </p:nvSpPr>
        <p:spPr bwMode="auto">
          <a:xfrm>
            <a:off x="6477000" y="3886200"/>
            <a:ext cx="8366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sym typeface="Symbol" pitchFamily="18" charset="2"/>
              </a:rPr>
              <a:t>75%</a:t>
            </a:r>
          </a:p>
        </p:txBody>
      </p:sp>
      <p:sp>
        <p:nvSpPr>
          <p:cNvPr id="444425" name="Rectangle 9"/>
          <p:cNvSpPr>
            <a:spLocks noChangeArrowheads="1"/>
          </p:cNvSpPr>
          <p:nvPr/>
        </p:nvSpPr>
        <p:spPr bwMode="auto">
          <a:xfrm>
            <a:off x="7539737" y="5502346"/>
            <a:ext cx="838199" cy="400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r>
              <a:rPr lang="en-US" sz="2000">
                <a:solidFill>
                  <a:srgbClr val="FF0000"/>
                </a:solidFill>
                <a:sym typeface="Symbol" pitchFamily="18" charset="2"/>
              </a:rPr>
              <a:t>100%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1" grpId="0"/>
      <p:bldP spid="444422" grpId="0"/>
      <p:bldP spid="444424" grpId="0"/>
      <p:bldP spid="4444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Example2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533400"/>
            <a:ext cx="5334000" cy="3429000"/>
          </a:xfrm>
          <a:noFill/>
          <a:ln/>
        </p:spPr>
        <p:txBody>
          <a:bodyPr lIns="92075" tIns="46038" rIns="92075" bIns="46038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Given data set D is: </a:t>
            </a:r>
          </a:p>
          <a:p>
            <a:pPr algn="just">
              <a:lnSpc>
                <a:spcPct val="16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the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confidence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the rule:</a:t>
            </a:r>
          </a:p>
          <a:p>
            <a:pPr lvl="1"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 C</a:t>
            </a:r>
          </a:p>
          <a:p>
            <a:pPr lvl="1"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 A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134484"/>
              </p:ext>
            </p:extLst>
          </p:nvPr>
        </p:nvGraphicFramePr>
        <p:xfrm>
          <a:off x="2895600" y="902563"/>
          <a:ext cx="3926775" cy="1754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94200" imgH="1917700" progId="Excel.Sheet.8">
                  <p:embed/>
                </p:oleObj>
              </mc:Choice>
              <mc:Fallback>
                <p:oleObj name="Worksheet" r:id="rId2" imgW="4394200" imgH="19177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902563"/>
                        <a:ext cx="3926775" cy="17543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086AF2-1C80-E9DE-5161-562807E53C87}"/>
              </a:ext>
            </a:extLst>
          </p:cNvPr>
          <p:cNvSpPr txBox="1"/>
          <p:nvPr/>
        </p:nvSpPr>
        <p:spPr>
          <a:xfrm>
            <a:off x="5029994" y="4419600"/>
            <a:ext cx="2698175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For rule C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 A  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Support=50% and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Confidence = 100%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37E5E-7274-B31C-021F-CD86BE9C9547}"/>
              </a:ext>
            </a:extLst>
          </p:cNvPr>
          <p:cNvSpPr txBox="1"/>
          <p:nvPr/>
        </p:nvSpPr>
        <p:spPr>
          <a:xfrm>
            <a:off x="990600" y="4419600"/>
            <a:ext cx="2762295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For rule A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 C  </a:t>
            </a:r>
          </a:p>
          <a:p>
            <a:pPr lvl="1"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Support =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50% and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Confidence = 66.6%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Association Rule Mining Task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5638800"/>
          </a:xfrm>
        </p:spPr>
        <p:txBody>
          <a:bodyPr>
            <a:noAutofit/>
          </a:bodyPr>
          <a:lstStyle/>
          <a:p>
            <a:pPr marL="292100" indent="-292100" eaLnBrk="1" hangingPunct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Given a set of transactions T, the goal of association rule mining is to find all rules having 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 ≥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minsup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threshold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confidence ≥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minconf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threshold</a:t>
            </a:r>
          </a:p>
          <a:p>
            <a:pPr marL="800100" lvl="1" indent="-342900" eaLnBrk="1" hangingPunct="1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92100" indent="-292100" eaLnBrk="1" hangingPunct="1">
              <a:lnSpc>
                <a:spcPct val="150000"/>
              </a:lnSpc>
            </a:pP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Brute-force approach: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List all possible association rules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 the support and confidence for each rule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Prune rules that fail the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minsup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minconf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thresholds</a:t>
            </a:r>
          </a:p>
          <a:p>
            <a:pPr marL="800100" lvl="1" indent="-3429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Computationally prohibitive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Mining Association Rules</a:t>
            </a: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4191000" y="762000"/>
            <a:ext cx="4724400" cy="22775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Example of Rules:</a:t>
            </a:r>
            <a:br>
              <a:rPr lang="en-US" sz="2400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endParaRPr lang="en-US" sz="1000" dirty="0">
              <a:solidFill>
                <a:srgbClr val="CC33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Milk,Diaper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{Beer} (s=0.4, c=0.67)</a:t>
            </a:r>
            <a:b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Milk,Beer</a:t>
            </a: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Diaper,Beer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{Milk} (s=0.4, c=0.67)</a:t>
            </a:r>
          </a:p>
          <a:p>
            <a:pPr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{Beer}  {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Milk,Diaper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(s=0.4, c=0.67) </a:t>
            </a:r>
            <a:b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{Diaper}  {</a:t>
            </a:r>
            <a:r>
              <a:rPr lang="en-US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Milk,Beer</a:t>
            </a:r>
            <a:r>
              <a:rPr lang="en-US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(s=0.4, c=0.5) </a:t>
            </a:r>
          </a:p>
          <a:p>
            <a:pPr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{Milk}  {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Diaper,Beer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(s=0.4, c=0.5)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8600" y="990600"/>
          <a:ext cx="37338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3733800" cy="224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5" name="Text Box 5"/>
          <p:cNvSpPr txBox="1">
            <a:spLocks noChangeArrowheads="1"/>
          </p:cNvSpPr>
          <p:nvPr/>
        </p:nvSpPr>
        <p:spPr bwMode="auto">
          <a:xfrm>
            <a:off x="457200" y="3200400"/>
            <a:ext cx="8458200" cy="30008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Observations:</a:t>
            </a:r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All the above rules are binary partitions of the same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itemset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</a:t>
            </a:r>
            <a:b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{Milk, Diaper, Beer}</a:t>
            </a:r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Rules originating from the same </a:t>
            </a:r>
            <a:r>
              <a:rPr lang="en-US" sz="22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itemset</a:t>
            </a: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have identical support but</a:t>
            </a:r>
            <a:b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2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can have different confidence</a:t>
            </a:r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Thus, we may decouple the support and confidence 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Mining Association Rules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10000"/>
          </a:bodyPr>
          <a:lstStyle/>
          <a:p>
            <a:pPr marL="533400" indent="-533400" algn="just" eaLnBrk="1" hangingPunct="1">
              <a:lnSpc>
                <a:spcPct val="1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Two-step approach: </a:t>
            </a:r>
          </a:p>
          <a:p>
            <a:pPr marL="914400" lvl="1" indent="-457200" algn="just" eaLnBrk="1" hangingPunct="1">
              <a:lnSpc>
                <a:spcPct val="160000"/>
              </a:lnSpc>
              <a:buFont typeface="Arial" pitchFamily="34" charset="0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Generation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295400" lvl="2" indent="-381000" algn="just" eaLnBrk="1" hangingPunct="1">
              <a:lnSpc>
                <a:spcPct val="160000"/>
              </a:lnSpc>
              <a:buFont typeface="Arial" pitchFamily="34" charset="0"/>
              <a:buChar char="–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Generate 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whose support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 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minsup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 eaLnBrk="1" hangingPunct="1">
              <a:lnSpc>
                <a:spcPct val="160000"/>
              </a:lnSpc>
              <a:buFont typeface="Arial" pitchFamily="34" charset="0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Rule Generation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295400" lvl="2" indent="-381000" algn="just" eaLnBrk="1" hangingPunct="1">
              <a:lnSpc>
                <a:spcPct val="160000"/>
              </a:lnSpc>
              <a:buFont typeface="Arial" pitchFamily="34" charset="0"/>
              <a:buChar char="–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Generate high confidence rules from each frequent itemset, where each rule is a binary partitioning of a frequent itemset.</a:t>
            </a:r>
          </a:p>
          <a:p>
            <a:pPr marL="1295400" lvl="2" indent="-381000" algn="just" eaLnBrk="1" hangingPunct="1">
              <a:lnSpc>
                <a:spcPct val="160000"/>
              </a:lnSpc>
              <a:buFont typeface="Arial" pitchFamily="34" charset="0"/>
              <a:buChar char="–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Binary portioning example </a:t>
            </a:r>
          </a:p>
          <a:p>
            <a:pPr marL="1752600" lvl="3" indent="-381000" algn="just">
              <a:lnSpc>
                <a:spcPct val="1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: {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milk,bread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} {diaper}, {beer}{milk, bread}, etc.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 algn="just" eaLnBrk="1" hangingPunct="1">
              <a:lnSpc>
                <a:spcPct val="160000"/>
              </a:lnSpc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 </a:t>
            </a:r>
            <a:r>
              <a:rPr lang="en-US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generation is still computationally expensive!</a:t>
            </a:r>
          </a:p>
          <a:p>
            <a:pPr marL="533400" indent="-533400" algn="just" eaLnBrk="1" hangingPunct="1">
              <a:lnSpc>
                <a:spcPct val="160000"/>
              </a:lnSpc>
              <a:buFont typeface="Wingdings" pitchFamily="2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94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Frequent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Generation</a:t>
            </a: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304800" y="1316038"/>
          <a:ext cx="7034213" cy="531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807480" imgH="7407000" progId="">
                  <p:embed/>
                </p:oleObj>
              </mc:Choice>
              <mc:Fallback>
                <p:oleObj name="VISIO" r:id="rId3" imgW="9807480" imgH="74070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16038"/>
                        <a:ext cx="7034213" cy="531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Arial" pitchFamily="34" charset="0"/>
              </a:rPr>
              <a:t>Given d items, there are 2</a:t>
            </a:r>
            <a:r>
              <a:rPr lang="en-US" b="1" baseline="30000" dirty="0">
                <a:latin typeface="Arial" pitchFamily="34" charset="0"/>
              </a:rPr>
              <a:t>d</a:t>
            </a:r>
            <a:r>
              <a:rPr lang="en-US" b="1" dirty="0">
                <a:latin typeface="Arial" pitchFamily="34" charset="0"/>
              </a:rPr>
              <a:t> possible candidate </a:t>
            </a:r>
            <a:r>
              <a:rPr lang="en-US" b="1" dirty="0" err="1">
                <a:latin typeface="Arial" pitchFamily="34" charset="0"/>
              </a:rPr>
              <a:t>itemsets</a:t>
            </a:r>
            <a:endParaRPr lang="en-US" b="1" dirty="0">
              <a:latin typeface="Arial" pitchFamily="34" charset="0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Reducing Number of Candidates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609600"/>
            <a:ext cx="8580437" cy="6019800"/>
          </a:xfrm>
        </p:spPr>
        <p:txBody>
          <a:bodyPr>
            <a:normAutofit lnSpcReduction="10000"/>
          </a:bodyPr>
          <a:lstStyle/>
          <a:p>
            <a:pPr marL="292100" indent="-292100" eaLnBrk="1" hangingPunct="1">
              <a:lnSpc>
                <a:spcPct val="150000"/>
              </a:lnSpc>
            </a:pP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principle:</a:t>
            </a: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frequent, then all of its subsets must also be frequent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{beer, diaper, nuts}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is frequent, so is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{beer, diaper}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4" eaLnBrk="1" hangingPunct="1"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92100" indent="-292100" eaLnBrk="1" hangingPunct="1">
              <a:lnSpc>
                <a:spcPct val="150000"/>
              </a:lnSpc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principle holds due to the following property of the support measure:</a:t>
            </a:r>
          </a:p>
          <a:p>
            <a:pPr marL="292100" indent="-292100" eaLnBrk="1" hangingPunct="1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92100" indent="-292100" eaLnBrk="1" hangingPunct="1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 of 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never exceeds the support of its subsets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905000" y="4495800"/>
          <a:ext cx="56054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203040" progId="Equation.3">
                  <p:embed/>
                </p:oleObj>
              </mc:Choice>
              <mc:Fallback>
                <p:oleObj name="Equation" r:id="rId3" imgW="19555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95800"/>
                        <a:ext cx="5605463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318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graphicFrame>
        <p:nvGraphicFramePr>
          <p:cNvPr id="1229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85800" y="2438400"/>
          <a:ext cx="3433763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433292" imgH="1998228" progId="Word.Document.8">
                  <p:embed/>
                </p:oleObj>
              </mc:Choice>
              <mc:Fallback>
                <p:oleObj name="Document" r:id="rId3" imgW="3433292" imgH="199822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438400"/>
                        <a:ext cx="3433763" cy="199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4419600" y="2971800"/>
            <a:ext cx="4255652" cy="101630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s(Bread) &gt;  s(Bread, Beer)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s(Milk) &gt; s(Bread, Milk)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s(Diaper, Beer) &gt; s(Diaper, Beer, Coke)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228600" y="1622425"/>
            <a:ext cx="8831263" cy="5235575"/>
            <a:chOff x="144" y="686"/>
            <a:chExt cx="5563" cy="3298"/>
          </a:xfrm>
        </p:grpSpPr>
        <p:sp>
          <p:nvSpPr>
            <p:cNvPr id="9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0C6D9C"/>
                  </a:solidFill>
                  <a:latin typeface="Arial" pitchFamily="34" charset="0"/>
                </a:rPr>
                <a:t>Found to be Infrequent</a:t>
              </a:r>
              <a:endParaRPr lang="en-US">
                <a:solidFill>
                  <a:srgbClr val="0C6D9C"/>
                </a:solidFill>
                <a:latin typeface="Arial" pitchFamily="34" charset="0"/>
                <a:sym typeface="Symbol" pitchFamily="18" charset="2"/>
              </a:endParaRPr>
            </a:p>
          </p:txBody>
        </p:sp>
        <p:graphicFrame>
          <p:nvGraphicFramePr>
            <p:cNvPr id="11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9866478" imgH="7377618" progId="">
                    <p:embed/>
                  </p:oleObj>
                </mc:Choice>
                <mc:Fallback>
                  <p:oleObj name="Visio" r:id="rId2" imgW="9866478" imgH="7377618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2209800" y="1622425"/>
            <a:ext cx="6850063" cy="5235575"/>
            <a:chOff x="1392" y="686"/>
            <a:chExt cx="4315" cy="3298"/>
          </a:xfrm>
        </p:grpSpPr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7038839"/>
                </p:ext>
              </p:extLst>
            </p:nvPr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9866478" imgH="7377618" progId="">
                    <p:embed/>
                  </p:oleObj>
                </mc:Choice>
                <mc:Fallback>
                  <p:oleObj name="Visio" r:id="rId4" imgW="9866478" imgH="7377618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itchFamily="34" charset="0"/>
                </a:rPr>
                <a:t>Pruned supersets</a:t>
              </a:r>
              <a:endParaRPr lang="en-US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endParaRPr>
            </a:p>
          </p:txBody>
        </p:sp>
      </p:grpSp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534400" cy="56388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is the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property used in the algorithm?</a:t>
            </a:r>
          </a:p>
          <a:p>
            <a:pPr lvl="1" algn="just"/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pruning principle: If there is any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which is infrequent, its superset should not be generated/tested!</a:t>
            </a:r>
          </a:p>
          <a:p>
            <a:pPr algn="just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56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Illustrating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purning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Principle</a:t>
            </a: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304800" y="1900238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289960" imgH="2495520" progId="Word.Document.8">
                  <p:embed/>
                </p:oleObj>
              </mc:Choice>
              <mc:Fallback>
                <p:oleObj name="Document" r:id="rId3" imgW="2289960" imgH="24955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0238"/>
                        <a:ext cx="2289175" cy="2498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3352800" y="2662238"/>
          <a:ext cx="3327400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328560" imgH="2008800" progId="Word.Document.8">
                  <p:embed/>
                </p:oleObj>
              </mc:Choice>
              <mc:Fallback>
                <p:oleObj name="Document" r:id="rId5" imgW="3328560" imgH="2008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62238"/>
                        <a:ext cx="3327400" cy="212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514600" y="1824038"/>
            <a:ext cx="18582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Items (1-itemsets)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6096000" y="2584450"/>
            <a:ext cx="264687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Pairs (2-itemsets)</a:t>
            </a:r>
          </a:p>
          <a:p>
            <a:pPr>
              <a:spcBef>
                <a:spcPct val="0"/>
              </a:spcBef>
            </a:pP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(No need to generate</a:t>
            </a:r>
            <a:br>
              <a:rPr lang="en-US" sz="1800">
                <a:latin typeface="Times New Roman" pitchFamily="18" charset="0"/>
                <a:cs typeface="Times New Roman" pitchFamily="18" charset="0"/>
              </a:rPr>
            </a:br>
            <a:r>
              <a:rPr lang="en-US" sz="1800">
                <a:latin typeface="Times New Roman" pitchFamily="18" charset="0"/>
                <a:cs typeface="Times New Roman" pitchFamily="18" charset="0"/>
              </a:rPr>
              <a:t>candidates involving Coke</a:t>
            </a:r>
            <a:br>
              <a:rPr lang="en-US" sz="1800">
                <a:latin typeface="Times New Roman" pitchFamily="18" charset="0"/>
                <a:cs typeface="Times New Roman" pitchFamily="18" charset="0"/>
              </a:rPr>
            </a:br>
            <a:r>
              <a:rPr lang="en-US" sz="1800">
                <a:latin typeface="Times New Roman" pitchFamily="18" charset="0"/>
                <a:cs typeface="Times New Roman" pitchFamily="18" charset="0"/>
              </a:rPr>
              <a:t>or Eggs)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2819400" y="2509838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04800" y="4338638"/>
            <a:ext cx="2257348" cy="369332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Minimum Support =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91600" cy="83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Algorithm (the general idea)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534400" cy="5486400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Initially, scan DB once to get candidate item set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find 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 1-items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from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put them to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(k=1)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generate a collection of </a:t>
            </a:r>
            <a:r>
              <a:rPr lang="en-US" sz="24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with size (k+1)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Scan the database to find which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put them into L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k+1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L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not empty(i.e., terminate when no frequent or candidate  set can be generated)</a:t>
            </a:r>
          </a:p>
          <a:p>
            <a:pPr marL="933450" lvl="1" indent="-533400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k=k+1</a:t>
            </a:r>
          </a:p>
          <a:p>
            <a:pPr marL="933450" lvl="1" indent="-533400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GOTO 2</a:t>
            </a: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Generating association rules from frequent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itemsets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Generate strong association rules from frequent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(where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strong association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rules satisfy both minimum support and minimum confidence) as follows: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rules generated from frequent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each one automatically satisfies the minimum support.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" y="2438400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56CC88-DA55-F694-567C-850CEEC45696}"/>
              </a:ext>
            </a:extLst>
          </p:cNvPr>
          <p:cNvSpPr txBox="1"/>
          <p:nvPr/>
        </p:nvSpPr>
        <p:spPr>
          <a:xfrm>
            <a:off x="1447800" y="2668790"/>
            <a:ext cx="26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Non-empty proper subset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1660E-6C45-E016-C548-ABCE03191763}"/>
              </a:ext>
            </a:extLst>
          </p:cNvPr>
          <p:cNvSpPr txBox="1"/>
          <p:nvPr/>
        </p:nvSpPr>
        <p:spPr>
          <a:xfrm>
            <a:off x="4065187" y="2235390"/>
            <a:ext cx="2606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Non-empty proper subset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Algorithm </a:t>
            </a:r>
            <a:r>
              <a:rPr lang="en-US" sz="3200" b="1">
                <a:latin typeface="Times New Roman" pitchFamily="18" charset="0"/>
                <a:cs typeface="Times New Roman" pitchFamily="18" charset="0"/>
              </a:rPr>
              <a:t>— Example1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Consider the following transactions for association rules analysis:</a:t>
            </a: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minimum support(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min_sup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= 2 (2/9 = 22%) and 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Minimum confidence = 70%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219200"/>
            <a:ext cx="30670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57200"/>
            <a:ext cx="8534400" cy="60198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marL="342900" lvl="1" indent="-342900" algn="just">
              <a:lnSpc>
                <a:spcPct val="160000"/>
              </a:lnSpc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Step1: Frequent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Generation: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990600"/>
            <a:ext cx="7391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Step2: Generating association rules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data contain frequent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itemset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 ={I1,I2,I5}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.What are the association rules that can be generated from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X?</a:t>
            </a:r>
          </a:p>
          <a:p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proper nonempty subsets of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X are   			</a:t>
            </a:r>
          </a:p>
          <a:p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resulting association rules 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shown below, each listed with its confidence: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minimum confidence threshold is 70%, so only the second, third, and last rules are output, because these are the only ones generated that are strong.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2133600"/>
            <a:ext cx="4217726" cy="31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6879" y="3276600"/>
            <a:ext cx="3670241" cy="153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3CA562-7B1B-AA43-2A26-201CE14056CB}"/>
              </a:ext>
            </a:extLst>
          </p:cNvPr>
          <p:cNvSpPr txBox="1"/>
          <p:nvPr/>
        </p:nvSpPr>
        <p:spPr>
          <a:xfrm>
            <a:off x="3621498" y="3733800"/>
            <a:ext cx="40748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  <a:r>
              <a:rPr lang="en-US" sz="1600" dirty="0"/>
              <a:t>,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93038" cy="6096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 err="1"/>
              <a:t>Apriori</a:t>
            </a:r>
            <a:r>
              <a:rPr lang="en-US" sz="3200" b="1" dirty="0"/>
              <a:t> Algorithm—An Example 1 </a:t>
            </a:r>
          </a:p>
        </p:txBody>
      </p:sp>
      <p:sp>
        <p:nvSpPr>
          <p:cNvPr id="1532931" name="Text Box 3"/>
          <p:cNvSpPr txBox="1">
            <a:spLocks noChangeArrowheads="1"/>
          </p:cNvSpPr>
          <p:nvPr/>
        </p:nvSpPr>
        <p:spPr bwMode="auto">
          <a:xfrm>
            <a:off x="0" y="1371600"/>
            <a:ext cx="1985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Database TDB</a:t>
            </a:r>
          </a:p>
        </p:txBody>
      </p:sp>
      <p:sp>
        <p:nvSpPr>
          <p:cNvPr id="1532932" name="Text Box 4"/>
          <p:cNvSpPr txBox="1">
            <a:spLocks noChangeArrowheads="1"/>
          </p:cNvSpPr>
          <p:nvPr/>
        </p:nvSpPr>
        <p:spPr bwMode="auto">
          <a:xfrm>
            <a:off x="2176463" y="22733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1</a:t>
            </a:r>
            <a:r>
              <a:rPr lang="en-US" baseline="30000">
                <a:latin typeface="Times New Roman" pitchFamily="18" charset="0"/>
              </a:rPr>
              <a:t>st</a:t>
            </a:r>
            <a:r>
              <a:rPr lang="en-US">
                <a:latin typeface="Times New Roman" pitchFamily="18" charset="0"/>
              </a:rPr>
              <a:t> scan</a:t>
            </a:r>
          </a:p>
        </p:txBody>
      </p:sp>
      <p:sp>
        <p:nvSpPr>
          <p:cNvPr id="1532933" name="Line 5"/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34" name="Text Box 6"/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C</a:t>
            </a:r>
            <a:r>
              <a:rPr 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532935" name="Text Box 7"/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L</a:t>
            </a:r>
            <a:r>
              <a:rPr 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532936" name="Text Box 8"/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L</a:t>
            </a:r>
            <a:r>
              <a:rPr 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532937" name="Text Box 9"/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C</a:t>
            </a:r>
            <a:r>
              <a:rPr 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532938" name="Text Box 10"/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C</a:t>
            </a:r>
            <a:r>
              <a:rPr 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532939" name="Line 11"/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0" name="Text Box 12"/>
          <p:cNvSpPr txBox="1">
            <a:spLocks noChangeArrowheads="1"/>
          </p:cNvSpPr>
          <p:nvPr/>
        </p:nvSpPr>
        <p:spPr bwMode="auto">
          <a:xfrm>
            <a:off x="5108575" y="3751263"/>
            <a:ext cx="1157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2</a:t>
            </a:r>
            <a:r>
              <a:rPr lang="en-US" baseline="30000">
                <a:latin typeface="Times New Roman" pitchFamily="18" charset="0"/>
              </a:rPr>
              <a:t>nd</a:t>
            </a:r>
            <a:r>
              <a:rPr lang="en-US">
                <a:latin typeface="Times New Roman" pitchFamily="18" charset="0"/>
              </a:rPr>
              <a:t> scan</a:t>
            </a:r>
          </a:p>
        </p:txBody>
      </p:sp>
      <p:sp>
        <p:nvSpPr>
          <p:cNvPr id="1532941" name="AutoShape 13"/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42" name="Line 14"/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3" name="Text Box 15"/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C</a:t>
            </a:r>
            <a:r>
              <a:rPr 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532944" name="Text Box 16"/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i="1">
                <a:latin typeface="Times New Roman" pitchFamily="18" charset="0"/>
              </a:rPr>
              <a:t>L</a:t>
            </a:r>
            <a:r>
              <a:rPr 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532945" name="Text Box 17"/>
          <p:cNvSpPr txBox="1">
            <a:spLocks noChangeArrowheads="1"/>
          </p:cNvSpPr>
          <p:nvPr/>
        </p:nvSpPr>
        <p:spPr bwMode="auto">
          <a:xfrm>
            <a:off x="2708275" y="5881688"/>
            <a:ext cx="1123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3</a:t>
            </a:r>
            <a:r>
              <a:rPr lang="en-US" baseline="30000">
                <a:latin typeface="Times New Roman" pitchFamily="18" charset="0"/>
              </a:rPr>
              <a:t>rd</a:t>
            </a:r>
            <a:r>
              <a:rPr lang="en-US">
                <a:latin typeface="Times New Roman" pitchFamily="18" charset="0"/>
              </a:rPr>
              <a:t> scan</a:t>
            </a:r>
          </a:p>
        </p:txBody>
      </p:sp>
      <p:sp>
        <p:nvSpPr>
          <p:cNvPr id="1532946" name="AutoShape 18"/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2947" name="Line 19"/>
          <p:cNvSpPr>
            <a:spLocks noChangeShapeType="1"/>
          </p:cNvSpPr>
          <p:nvPr/>
        </p:nvSpPr>
        <p:spPr bwMode="auto">
          <a:xfrm>
            <a:off x="53340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2948" name="Line 20"/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532949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314847"/>
              </p:ext>
            </p:extLst>
          </p:nvPr>
        </p:nvGraphicFramePr>
        <p:xfrm>
          <a:off x="152400" y="1828800"/>
          <a:ext cx="1905000" cy="15544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26144"/>
              </p:ext>
            </p:extLst>
          </p:nvPr>
        </p:nvGraphicFramePr>
        <p:xfrm>
          <a:off x="3429000" y="1219200"/>
          <a:ext cx="1752600" cy="18653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{D}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82482"/>
              </p:ext>
            </p:extLst>
          </p:nvPr>
        </p:nvGraphicFramePr>
        <p:xfrm>
          <a:off x="5943600" y="1371600"/>
          <a:ext cx="1752600" cy="15544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05730"/>
              </p:ext>
            </p:extLst>
          </p:nvPr>
        </p:nvGraphicFramePr>
        <p:xfrm>
          <a:off x="6553200" y="3581400"/>
          <a:ext cx="1143000" cy="217627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929946"/>
              </p:ext>
            </p:extLst>
          </p:nvPr>
        </p:nvGraphicFramePr>
        <p:xfrm>
          <a:off x="3200400" y="3429000"/>
          <a:ext cx="1752600" cy="20055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35195"/>
              </p:ext>
            </p:extLst>
          </p:nvPr>
        </p:nvGraphicFramePr>
        <p:xfrm>
          <a:off x="762000" y="3862388"/>
          <a:ext cx="1752600" cy="14325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536217"/>
              </p:ext>
            </p:extLst>
          </p:nvPr>
        </p:nvGraphicFramePr>
        <p:xfrm>
          <a:off x="1143000" y="5867400"/>
          <a:ext cx="1143000" cy="65855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03078"/>
              </p:ext>
            </p:extLst>
          </p:nvPr>
        </p:nvGraphicFramePr>
        <p:xfrm>
          <a:off x="4572000" y="5867400"/>
          <a:ext cx="1752600" cy="61912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33095" name="Text Box 167"/>
          <p:cNvSpPr txBox="1">
            <a:spLocks noChangeArrowheads="1"/>
          </p:cNvSpPr>
          <p:nvPr/>
        </p:nvSpPr>
        <p:spPr bwMode="auto">
          <a:xfrm>
            <a:off x="2134338" y="1098958"/>
            <a:ext cx="114226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</a:rPr>
              <a:t>Sup</a:t>
            </a:r>
            <a:r>
              <a:rPr lang="en-US" b="1" baseline="-25000">
                <a:solidFill>
                  <a:srgbClr val="FF0000"/>
                </a:solidFill>
              </a:rPr>
              <a:t>min</a:t>
            </a:r>
            <a:r>
              <a:rPr lang="en-US" b="1">
                <a:solidFill>
                  <a:srgbClr val="FF0000"/>
                </a:solidFill>
              </a:rPr>
              <a:t> = 2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Algorithm — Example 2</a:t>
            </a:r>
          </a:p>
        </p:txBody>
      </p:sp>
      <p:graphicFrame>
        <p:nvGraphicFramePr>
          <p:cNvPr id="153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42383"/>
              </p:ext>
            </p:extLst>
          </p:nvPr>
        </p:nvGraphicFramePr>
        <p:xfrm>
          <a:off x="282096" y="1456181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61760" imgH="1734840" progId="Excel.Sheet.8">
                  <p:embed/>
                </p:oleObj>
              </mc:Choice>
              <mc:Fallback>
                <p:oleObj name="Worksheet" r:id="rId3" imgW="1661760" imgH="173484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6" y="1456181"/>
                        <a:ext cx="1814512" cy="162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 Box 4"/>
          <p:cNvSpPr txBox="1">
            <a:spLocks noChangeArrowheads="1"/>
          </p:cNvSpPr>
          <p:nvPr/>
        </p:nvSpPr>
        <p:spPr bwMode="auto">
          <a:xfrm>
            <a:off x="201613" y="1050925"/>
            <a:ext cx="1597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/>
              <a:t>Database D</a:t>
            </a:r>
          </a:p>
        </p:txBody>
      </p:sp>
      <p:graphicFrame>
        <p:nvGraphicFramePr>
          <p:cNvPr id="15363" name="Object 5"/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14240" imgH="2076120" progId="Excel.Sheet.8">
                  <p:embed/>
                </p:oleObj>
              </mc:Choice>
              <mc:Fallback>
                <p:oleObj name="Worksheet" r:id="rId5" imgW="1614240" imgH="207612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6"/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14240" imgH="1734840" progId="Excel.Sheet.8">
                  <p:embed/>
                </p:oleObj>
              </mc:Choice>
              <mc:Fallback>
                <p:oleObj name="Worksheet" r:id="rId7" imgW="1614240" imgH="173484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Text Box 7"/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/>
              <a:t>Scan D</a:t>
            </a:r>
          </a:p>
        </p:txBody>
      </p:sp>
      <p:sp>
        <p:nvSpPr>
          <p:cNvPr id="15373" name="Line 8"/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4" name="Text Box 9"/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C</a:t>
            </a:r>
            <a:r>
              <a:rPr lang="en-US" sz="2400" i="1" baseline="-25000"/>
              <a:t>1</a:t>
            </a:r>
          </a:p>
        </p:txBody>
      </p:sp>
      <p:sp>
        <p:nvSpPr>
          <p:cNvPr id="15375" name="Text Box 10"/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L</a:t>
            </a:r>
            <a:r>
              <a:rPr lang="en-US" sz="2400" i="1" baseline="-25000"/>
              <a:t>1</a:t>
            </a:r>
          </a:p>
        </p:txBody>
      </p:sp>
      <p:graphicFrame>
        <p:nvGraphicFramePr>
          <p:cNvPr id="15365" name="Object 11"/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987480" imgH="2417400" progId="Excel.Sheet.8">
                  <p:embed/>
                </p:oleObj>
              </mc:Choice>
              <mc:Fallback>
                <p:oleObj name="Worksheet" r:id="rId9" imgW="987480" imgH="24174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2"/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76080" imgH="2417400" progId="Excel.Sheet.8">
                  <p:embed/>
                </p:oleObj>
              </mc:Choice>
              <mc:Fallback>
                <p:oleObj name="Worksheet" r:id="rId11" imgW="1576080" imgH="24174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3"/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76080" imgH="1734840" progId="Excel.Sheet.8">
                  <p:embed/>
                </p:oleObj>
              </mc:Choice>
              <mc:Fallback>
                <p:oleObj name="Worksheet" r:id="rId13" imgW="1576080" imgH="173484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14"/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L</a:t>
            </a:r>
            <a:r>
              <a:rPr lang="en-US" sz="2400" i="1" baseline="-25000"/>
              <a:t>2</a:t>
            </a:r>
          </a:p>
        </p:txBody>
      </p:sp>
      <p:sp>
        <p:nvSpPr>
          <p:cNvPr id="15377" name="Text Box 15"/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C</a:t>
            </a:r>
            <a:r>
              <a:rPr lang="en-US" sz="2400" i="1" baseline="-25000"/>
              <a:t>2</a:t>
            </a:r>
          </a:p>
        </p:txBody>
      </p:sp>
      <p:sp>
        <p:nvSpPr>
          <p:cNvPr id="15378" name="Text Box 16"/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C</a:t>
            </a:r>
            <a:r>
              <a:rPr lang="en-US" sz="2400" i="1" baseline="-25000"/>
              <a:t>2</a:t>
            </a:r>
          </a:p>
        </p:txBody>
      </p:sp>
      <p:sp>
        <p:nvSpPr>
          <p:cNvPr id="15379" name="Line 17"/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80" name="Text Box 18"/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/>
              <a:t>Scan D</a:t>
            </a:r>
          </a:p>
        </p:txBody>
      </p:sp>
      <p:sp>
        <p:nvSpPr>
          <p:cNvPr id="15381" name="AutoShape 19"/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2" name="Line 20"/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83" name="Text Box 21"/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C</a:t>
            </a:r>
            <a:r>
              <a:rPr lang="en-US" sz="2400" i="1" baseline="-25000"/>
              <a:t>3</a:t>
            </a:r>
          </a:p>
        </p:txBody>
      </p:sp>
      <p:sp>
        <p:nvSpPr>
          <p:cNvPr id="15384" name="Text Box 22"/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i="1"/>
              <a:t>L</a:t>
            </a:r>
            <a:r>
              <a:rPr lang="en-US" sz="2400" i="1" baseline="-25000"/>
              <a:t>3</a:t>
            </a:r>
          </a:p>
        </p:txBody>
      </p:sp>
      <p:graphicFrame>
        <p:nvGraphicFramePr>
          <p:cNvPr id="15368" name="Object 23"/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87480" imgH="711000" progId="Excel.Sheet.8">
                  <p:embed/>
                </p:oleObj>
              </mc:Choice>
              <mc:Fallback>
                <p:oleObj name="Worksheet" r:id="rId15" imgW="987480" imgH="7110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4"/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/>
              <a:t>Scan D</a:t>
            </a:r>
          </a:p>
        </p:txBody>
      </p:sp>
      <p:graphicFrame>
        <p:nvGraphicFramePr>
          <p:cNvPr id="15369" name="Object 25"/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76080" imgH="701640" progId="Excel.Sheet.8">
                  <p:embed/>
                </p:oleObj>
              </mc:Choice>
              <mc:Fallback>
                <p:oleObj name="Worksheet" r:id="rId17" imgW="1576080" imgH="70164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AutoShape 26"/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2325983" y="958850"/>
            <a:ext cx="27193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Verdana" pitchFamily="34" charset="0"/>
              </a:rPr>
              <a:t>min_sup=2=50%</a:t>
            </a: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database has five transactions. Let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min sup = 60% and min conf = 80%.</a:t>
            </a:r>
          </a:p>
          <a:p>
            <a:pPr algn="just">
              <a:lnSpc>
                <a:spcPct val="160000"/>
              </a:lnSpc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all frequent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algorithm.</a:t>
            </a: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List all 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strong association rules.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438400"/>
            <a:ext cx="30003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93038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AU" sz="3200" b="1" dirty="0">
                <a:latin typeface="Times New Roman" pitchFamily="18" charset="0"/>
                <a:cs typeface="Times New Roman" pitchFamily="18" charset="0"/>
              </a:rPr>
              <a:t>Problems with A-priori Algorithms</a:t>
            </a:r>
          </a:p>
        </p:txBody>
      </p:sp>
      <p:sp>
        <p:nvSpPr>
          <p:cNvPr id="135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534400" cy="60198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It is costly to handle a huge number of candidate sets.</a:t>
            </a:r>
          </a:p>
          <a:p>
            <a:pPr lvl="1">
              <a:lnSpc>
                <a:spcPct val="150000"/>
              </a:lnSpc>
              <a:defRPr/>
            </a:pPr>
            <a:r>
              <a:rPr lang="en-AU" sz="1800" dirty="0">
                <a:latin typeface="Times New Roman" pitchFamily="18" charset="0"/>
                <a:cs typeface="Times New Roman" pitchFamily="18" charset="0"/>
              </a:rPr>
              <a:t> For example if there are 10</a:t>
            </a:r>
            <a:r>
              <a:rPr lang="en-AU" sz="1800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AU" sz="1800" dirty="0">
                <a:latin typeface="Times New Roman" pitchFamily="18" charset="0"/>
                <a:cs typeface="Times New Roman" pitchFamily="18" charset="0"/>
              </a:rPr>
              <a:t> large 1-itemsets, the </a:t>
            </a:r>
            <a:r>
              <a:rPr lang="en-AU" sz="1800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AU" sz="1800" dirty="0">
                <a:latin typeface="Times New Roman" pitchFamily="18" charset="0"/>
                <a:cs typeface="Times New Roman" pitchFamily="18" charset="0"/>
              </a:rPr>
              <a:t> algorithm will need to generate more than 10</a:t>
            </a:r>
            <a:r>
              <a:rPr lang="en-AU" sz="1800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AU" sz="1800" dirty="0">
                <a:latin typeface="Times New Roman" pitchFamily="18" charset="0"/>
                <a:cs typeface="Times New Roman" pitchFamily="18" charset="0"/>
              </a:rPr>
              <a:t> candidate 2-itemsets. Moreover for 100-itemsets, it must generate more than 2</a:t>
            </a:r>
            <a:r>
              <a:rPr lang="en-AU" sz="1800" baseline="30000" dirty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A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 10</a:t>
            </a:r>
            <a:r>
              <a:rPr lang="en-AU" sz="1800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30</a:t>
            </a:r>
            <a:r>
              <a:rPr lang="en-AU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candidates in total. 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AU" sz="2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candidate generation is the inherent cost of the </a:t>
            </a:r>
            <a:r>
              <a:rPr lang="en-AU" sz="24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AU" sz="2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Algorithms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, no matter what implementation technique is applied.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To mine  a large data sets for  long patterns – this algorithm is NOT a good idea.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When Database is scanned to check C</a:t>
            </a:r>
            <a:r>
              <a:rPr lang="en-AU" sz="2000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for creating L</a:t>
            </a:r>
            <a:r>
              <a:rPr lang="en-AU" sz="2000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, a large number of transactions will be scanned even if they do not contain any k-itemset.</a:t>
            </a:r>
            <a:endParaRPr lang="en-AU" sz="16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Frequent pattern growth (FP-growth)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36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8369300" cy="5029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 frequent pattern growth approach mines Frequent Patterns </a:t>
            </a: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Without Candidate Generation.</a:t>
            </a:r>
          </a:p>
          <a:p>
            <a:pPr algn="just">
              <a:lnSpc>
                <a:spcPct val="2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FP-Growth there are mainly two step involved:</a:t>
            </a:r>
          </a:p>
          <a:p>
            <a:pPr lvl="1" algn="just">
              <a:lnSpc>
                <a:spcPct val="2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 a compact data structure called FP-Tree and</a:t>
            </a:r>
          </a:p>
          <a:p>
            <a:pPr lvl="1" algn="just">
              <a:lnSpc>
                <a:spcPct val="2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Then, extract frequent itemset directly from the FP-tree.</a:t>
            </a: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4572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 from a Transactional DB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153400" cy="5867400"/>
          </a:xfrm>
          <a:noFill/>
          <a:ln/>
        </p:spPr>
        <p:txBody>
          <a:bodyPr lIns="92075" tIns="46038" rIns="92075" bIns="46038">
            <a:no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FP-Tree is constructed using two passes over the data set:</a:t>
            </a:r>
          </a:p>
          <a:p>
            <a:pPr algn="just"/>
            <a:endParaRPr lang="en-US" sz="22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Pass1: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857250" lvl="1" indent="-457200" algn="just">
              <a:buFontTx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Scan DB once, find frequent 1-itemsets (single item patterns)</a:t>
            </a:r>
          </a:p>
          <a:p>
            <a:pPr marL="1257300" lvl="2" indent="-457200" algn="just">
              <a:buFont typeface="+mj-lt"/>
              <a:buAutoNum type="alphaL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Scan DB and find support for each item.</a:t>
            </a:r>
          </a:p>
          <a:p>
            <a:pPr marL="1257300" lvl="2" indent="-457200" algn="just">
              <a:buFont typeface="+mj-lt"/>
              <a:buAutoNum type="alphaL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Discard infrequent items</a:t>
            </a:r>
          </a:p>
          <a:p>
            <a:pPr marL="857250" lvl="1" indent="-457200" algn="just">
              <a:buFontTx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Sort frequent items in descending order of their frequency(support count).</a:t>
            </a:r>
          </a:p>
          <a:p>
            <a:pPr marL="857250" lvl="1" indent="-457200" algn="just">
              <a:buFontTx/>
              <a:buAutoNum type="arabicPeriod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Sort the items in each transaction in descending order of their frequency. Use this order when building the FP-tree, so common prefixes can be shared.</a:t>
            </a:r>
          </a:p>
          <a:p>
            <a:pPr algn="just"/>
            <a:endParaRPr lang="en-US" sz="22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Pass2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: Scan DB again, construct FP-tree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FP-growth reads one transaction at a time and maps it to a path.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Fixed order is used, so path can overlap when transaction share items.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Pointers are maintained between nodes containing the same item(dotted line)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Let transaction database  D:</a:t>
            </a: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Let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min_support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3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2400" u="sng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752600"/>
            <a:ext cx="3505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11430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 1: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Finding frequent 1-itemset and sorting the this set in descending order of support count(frequency):</a:t>
            </a: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200400" y="1836336"/>
            <a:ext cx="1739900" cy="457971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 dirty="0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a	4</a:t>
            </a:r>
            <a:endParaRPr lang="en-US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d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g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	1</a:t>
            </a:r>
            <a:endParaRPr lang="en-US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l	2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o	2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k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e	1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n	1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90A7-8168-D002-FE30-D33B1E6D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>
            <a:extLst>
              <a:ext uri="{FF2B5EF4-FFF2-40B4-BE49-F238E27FC236}">
                <a16:creationId xmlns:a16="http://schemas.microsoft.com/office/drawing/2014/main" id="{7F85D3C0-25BD-FD33-7EDE-9D27221F4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85800"/>
          </a:xfrm>
          <a:noFill/>
          <a:ln/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3187" name="Rectangle 3">
            <a:extLst>
              <a:ext uri="{FF2B5EF4-FFF2-40B4-BE49-F238E27FC236}">
                <a16:creationId xmlns:a16="http://schemas.microsoft.com/office/drawing/2014/main" id="{1370954F-A757-BAB0-3667-C35BF611A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791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 1: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Finding frequent 1-itemset and sorting the this set in descending order of support count(frequency):</a:t>
            </a: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Then, Making sorted frequent transactions in the transaction dataset D:</a:t>
            </a: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B2C94B5F-5857-7360-901E-DC467A6E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676400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 dirty="0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7F0138F-DA42-6BC4-EBF7-AB4A7EC0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67200"/>
            <a:ext cx="5727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Items bought	  </a:t>
            </a:r>
            <a:r>
              <a:rPr lang="en-US" sz="1800" b="1" u="sng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(ordered) frequent items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a, c, d, g,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, m, p}	</a:t>
            </a:r>
            <a:r>
              <a:rPr lang="en-US" sz="1800" b="1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{f, c, a, m,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{a, b, c, f, l, m, o}		</a:t>
            </a:r>
            <a:r>
              <a:rPr lang="en-US" sz="1800" b="1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{f, c, a, b, m}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{b, f, h, j, o}		</a:t>
            </a:r>
            <a:r>
              <a:rPr lang="en-US" sz="1800" b="1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{f, b}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{b, c, k, s, p}		</a:t>
            </a:r>
            <a:r>
              <a:rPr lang="en-US" sz="1800" b="1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{c, b,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{a, f, c, e, l, p, m, n}	</a:t>
            </a:r>
            <a:r>
              <a:rPr lang="en-US" sz="1800" b="1" dirty="0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{f, c, a, m, p}</a:t>
            </a:r>
          </a:p>
        </p:txBody>
      </p:sp>
    </p:spTree>
    <p:extLst>
      <p:ext uri="{BB962C8B-B14F-4D97-AF65-F5344CB8AC3E}">
        <p14:creationId xmlns:p14="http://schemas.microsoft.com/office/powerpoint/2010/main" val="370015120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475139" name="Text Box 3"/>
          <p:cNvSpPr txBox="1">
            <a:spLocks noChangeArrowheads="1"/>
          </p:cNvSpPr>
          <p:nvPr/>
        </p:nvSpPr>
        <p:spPr bwMode="auto">
          <a:xfrm>
            <a:off x="4953000" y="2717800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609600" y="1600200"/>
            <a:ext cx="3505200" cy="254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b, 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}	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6553200" y="1828800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 dirty="0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6400800" y="1477963"/>
            <a:ext cx="20970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85800" y="2286000"/>
            <a:ext cx="4545013" cy="3917950"/>
            <a:chOff x="432" y="1440"/>
            <a:chExt cx="2863" cy="2468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454" y="1944"/>
              <a:ext cx="841" cy="1964"/>
              <a:chOff x="2454" y="1944"/>
              <a:chExt cx="841" cy="1964"/>
            </a:xfrm>
          </p:grpSpPr>
          <p:sp>
            <p:nvSpPr>
              <p:cNvPr id="49162" name="Text Box 9"/>
              <p:cNvSpPr txBox="1">
                <a:spLocks noChangeArrowheads="1"/>
              </p:cNvSpPr>
              <p:nvPr/>
            </p:nvSpPr>
            <p:spPr bwMode="auto">
              <a:xfrm>
                <a:off x="2832" y="2144"/>
                <a:ext cx="278" cy="233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f:1</a:t>
                </a:r>
              </a:p>
            </p:txBody>
          </p:sp>
          <p:cxnSp>
            <p:nvCxnSpPr>
              <p:cNvPr id="49163" name="AutoShape 10"/>
              <p:cNvCxnSpPr>
                <a:cxnSpLocks noChangeShapeType="1"/>
                <a:stCxn id="475139" idx="2"/>
                <a:endCxn id="49162" idx="0"/>
              </p:cNvCxnSpPr>
              <p:nvPr/>
            </p:nvCxnSpPr>
            <p:spPr bwMode="auto">
              <a:xfrm rot="5400000">
                <a:off x="3033" y="1882"/>
                <a:ext cx="199" cy="324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49164" name="Text Box 11"/>
              <p:cNvSpPr txBox="1">
                <a:spLocks noChangeArrowheads="1"/>
              </p:cNvSpPr>
              <p:nvPr/>
            </p:nvSpPr>
            <p:spPr bwMode="auto">
              <a:xfrm>
                <a:off x="2645" y="2526"/>
                <a:ext cx="302" cy="233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c:1</a:t>
                </a:r>
              </a:p>
            </p:txBody>
          </p:sp>
          <p:cxnSp>
            <p:nvCxnSpPr>
              <p:cNvPr id="49165" name="AutoShape 12"/>
              <p:cNvCxnSpPr>
                <a:cxnSpLocks noChangeShapeType="1"/>
                <a:stCxn id="49162" idx="2"/>
                <a:endCxn id="49164" idx="0"/>
              </p:cNvCxnSpPr>
              <p:nvPr/>
            </p:nvCxnSpPr>
            <p:spPr bwMode="auto">
              <a:xfrm rot="5400000">
                <a:off x="2809" y="2364"/>
                <a:ext cx="149" cy="175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49166" name="Text Box 13"/>
              <p:cNvSpPr txBox="1">
                <a:spLocks noChangeArrowheads="1"/>
              </p:cNvSpPr>
              <p:nvPr/>
            </p:nvSpPr>
            <p:spPr bwMode="auto">
              <a:xfrm>
                <a:off x="2640" y="2908"/>
                <a:ext cx="310" cy="233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a:1</a:t>
                </a:r>
              </a:p>
            </p:txBody>
          </p:sp>
          <p:sp>
            <p:nvSpPr>
              <p:cNvPr id="49167" name="Text Box 14"/>
              <p:cNvSpPr txBox="1">
                <a:spLocks noChangeArrowheads="1"/>
              </p:cNvSpPr>
              <p:nvPr/>
            </p:nvSpPr>
            <p:spPr bwMode="auto">
              <a:xfrm>
                <a:off x="2454" y="3292"/>
                <a:ext cx="343" cy="233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m:1</a:t>
                </a:r>
              </a:p>
            </p:txBody>
          </p:sp>
          <p:sp>
            <p:nvSpPr>
              <p:cNvPr id="49168" name="Text Box 15"/>
              <p:cNvSpPr txBox="1">
                <a:spLocks noChangeArrowheads="1"/>
              </p:cNvSpPr>
              <p:nvPr/>
            </p:nvSpPr>
            <p:spPr bwMode="auto">
              <a:xfrm>
                <a:off x="2472" y="3675"/>
                <a:ext cx="310" cy="233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p:1</a:t>
                </a:r>
              </a:p>
            </p:txBody>
          </p:sp>
          <p:cxnSp>
            <p:nvCxnSpPr>
              <p:cNvPr id="49169" name="AutoShape 16"/>
              <p:cNvCxnSpPr>
                <a:cxnSpLocks noChangeShapeType="1"/>
                <a:stCxn id="49164" idx="2"/>
                <a:endCxn id="49166" idx="0"/>
              </p:cNvCxnSpPr>
              <p:nvPr/>
            </p:nvCxnSpPr>
            <p:spPr bwMode="auto">
              <a:xfrm rot="5400000">
                <a:off x="2721" y="2833"/>
                <a:ext cx="149" cy="1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170" name="AutoShape 17"/>
              <p:cNvCxnSpPr>
                <a:cxnSpLocks noChangeShapeType="1"/>
                <a:stCxn id="49166" idx="2"/>
                <a:endCxn id="49167" idx="0"/>
              </p:cNvCxnSpPr>
              <p:nvPr/>
            </p:nvCxnSpPr>
            <p:spPr bwMode="auto">
              <a:xfrm rot="5400000">
                <a:off x="2635" y="3131"/>
                <a:ext cx="151" cy="170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171" name="AutoShape 18"/>
              <p:cNvCxnSpPr>
                <a:cxnSpLocks noChangeShapeType="1"/>
                <a:stCxn id="49167" idx="2"/>
                <a:endCxn id="49168" idx="0"/>
              </p:cNvCxnSpPr>
              <p:nvPr/>
            </p:nvCxnSpPr>
            <p:spPr bwMode="auto">
              <a:xfrm rot="16200000" flipH="1">
                <a:off x="2551" y="3599"/>
                <a:ext cx="150" cy="2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9161" name="Line 19"/>
            <p:cNvSpPr>
              <a:spLocks noChangeShapeType="1"/>
            </p:cNvSpPr>
            <p:nvPr/>
          </p:nvSpPr>
          <p:spPr bwMode="auto">
            <a:xfrm flipH="1">
              <a:off x="432" y="1440"/>
              <a:ext cx="1579" cy="0"/>
            </a:xfrm>
            <a:prstGeom prst="line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4921595" y="2661194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916738" y="1819275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6818313" y="1544638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95727" y="3030539"/>
            <a:ext cx="1304926" cy="3173414"/>
            <a:chOff x="2454" y="1909"/>
            <a:chExt cx="822" cy="1999"/>
          </a:xfrm>
        </p:grpSpPr>
        <p:sp>
          <p:nvSpPr>
            <p:cNvPr id="50190" name="Text Box 7"/>
            <p:cNvSpPr txBox="1">
              <a:spLocks noChangeArrowheads="1"/>
            </p:cNvSpPr>
            <p:nvPr/>
          </p:nvSpPr>
          <p:spPr bwMode="auto">
            <a:xfrm>
              <a:off x="2832" y="2144"/>
              <a:ext cx="278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f:2</a:t>
              </a:r>
            </a:p>
          </p:txBody>
        </p:sp>
        <p:cxnSp>
          <p:nvCxnSpPr>
            <p:cNvPr id="50191" name="AutoShape 8"/>
            <p:cNvCxnSpPr>
              <a:cxnSpLocks noChangeShapeType="1"/>
              <a:stCxn id="50179" idx="2"/>
              <a:endCxn id="50190" idx="0"/>
            </p:cNvCxnSpPr>
            <p:nvPr/>
          </p:nvCxnSpPr>
          <p:spPr bwMode="auto">
            <a:xfrm flipH="1">
              <a:off x="2971" y="1909"/>
              <a:ext cx="305" cy="23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0192" name="Text Box 9"/>
            <p:cNvSpPr txBox="1">
              <a:spLocks noChangeArrowheads="1"/>
            </p:cNvSpPr>
            <p:nvPr/>
          </p:nvSpPr>
          <p:spPr bwMode="auto">
            <a:xfrm>
              <a:off x="2645" y="2526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c:2</a:t>
              </a:r>
            </a:p>
          </p:txBody>
        </p:sp>
        <p:cxnSp>
          <p:nvCxnSpPr>
            <p:cNvPr id="50193" name="AutoShape 10"/>
            <p:cNvCxnSpPr>
              <a:cxnSpLocks noChangeShapeType="1"/>
              <a:stCxn id="50190" idx="2"/>
              <a:endCxn id="50192" idx="0"/>
            </p:cNvCxnSpPr>
            <p:nvPr/>
          </p:nvCxnSpPr>
          <p:spPr bwMode="auto">
            <a:xfrm rot="5400000">
              <a:off x="2809" y="2364"/>
              <a:ext cx="149" cy="17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0194" name="Text Box 11"/>
            <p:cNvSpPr txBox="1">
              <a:spLocks noChangeArrowheads="1"/>
            </p:cNvSpPr>
            <p:nvPr/>
          </p:nvSpPr>
          <p:spPr bwMode="auto">
            <a:xfrm>
              <a:off x="2640" y="2908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a:2</a:t>
              </a:r>
            </a:p>
          </p:txBody>
        </p:sp>
        <p:sp>
          <p:nvSpPr>
            <p:cNvPr id="50195" name="Text Box 12"/>
            <p:cNvSpPr txBox="1">
              <a:spLocks noChangeArrowheads="1"/>
            </p:cNvSpPr>
            <p:nvPr/>
          </p:nvSpPr>
          <p:spPr bwMode="auto">
            <a:xfrm>
              <a:off x="2454" y="3292"/>
              <a:ext cx="343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m:1</a:t>
              </a:r>
            </a:p>
          </p:txBody>
        </p:sp>
        <p:sp>
          <p:nvSpPr>
            <p:cNvPr id="50196" name="Text Box 13"/>
            <p:cNvSpPr txBox="1">
              <a:spLocks noChangeArrowheads="1"/>
            </p:cNvSpPr>
            <p:nvPr/>
          </p:nvSpPr>
          <p:spPr bwMode="auto">
            <a:xfrm>
              <a:off x="2472" y="3675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p:1</a:t>
              </a:r>
            </a:p>
          </p:txBody>
        </p:sp>
        <p:cxnSp>
          <p:nvCxnSpPr>
            <p:cNvPr id="50197" name="AutoShape 14"/>
            <p:cNvCxnSpPr>
              <a:cxnSpLocks noChangeShapeType="1"/>
              <a:stCxn id="50192" idx="2"/>
              <a:endCxn id="50194" idx="0"/>
            </p:cNvCxnSpPr>
            <p:nvPr/>
          </p:nvCxnSpPr>
          <p:spPr bwMode="auto">
            <a:xfrm rot="5400000">
              <a:off x="2721" y="2833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0198" name="AutoShape 15"/>
            <p:cNvCxnSpPr>
              <a:cxnSpLocks noChangeShapeType="1"/>
              <a:stCxn id="50194" idx="2"/>
              <a:endCxn id="50195" idx="0"/>
            </p:cNvCxnSpPr>
            <p:nvPr/>
          </p:nvCxnSpPr>
          <p:spPr bwMode="auto">
            <a:xfrm rot="5400000">
              <a:off x="2635" y="3131"/>
              <a:ext cx="151" cy="17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0199" name="AutoShape 16"/>
            <p:cNvCxnSpPr>
              <a:cxnSpLocks noChangeShapeType="1"/>
              <a:stCxn id="50195" idx="2"/>
              <a:endCxn id="50196" idx="0"/>
            </p:cNvCxnSpPr>
            <p:nvPr/>
          </p:nvCxnSpPr>
          <p:spPr bwMode="auto">
            <a:xfrm rot="16200000" flipH="1">
              <a:off x="2551" y="3599"/>
              <a:ext cx="150" cy="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50185" name="Text Box 19"/>
          <p:cNvSpPr txBox="1">
            <a:spLocks noChangeArrowheads="1"/>
          </p:cNvSpPr>
          <p:nvPr/>
        </p:nvSpPr>
        <p:spPr bwMode="auto">
          <a:xfrm>
            <a:off x="4684713" y="52339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0186" name="AutoShape 20"/>
          <p:cNvCxnSpPr>
            <a:cxnSpLocks noChangeShapeType="1"/>
            <a:endCxn id="50185" idx="0"/>
          </p:cNvCxnSpPr>
          <p:nvPr/>
        </p:nvCxnSpPr>
        <p:spPr bwMode="auto">
          <a:xfrm>
            <a:off x="4572000" y="5022850"/>
            <a:ext cx="358935" cy="21113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0187" name="Text Box 21"/>
          <p:cNvSpPr txBox="1">
            <a:spLocks noChangeArrowheads="1"/>
          </p:cNvSpPr>
          <p:nvPr/>
        </p:nvSpPr>
        <p:spPr bwMode="auto">
          <a:xfrm>
            <a:off x="4656138" y="5842000"/>
            <a:ext cx="543739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0188" name="AutoShape 22"/>
          <p:cNvCxnSpPr>
            <a:cxnSpLocks noChangeShapeType="1"/>
            <a:stCxn id="50185" idx="2"/>
            <a:endCxn id="50187" idx="0"/>
          </p:cNvCxnSpPr>
          <p:nvPr/>
        </p:nvCxnSpPr>
        <p:spPr bwMode="auto">
          <a:xfrm rot="5400000">
            <a:off x="4810132" y="5721197"/>
            <a:ext cx="238680" cy="292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0189" name="Rectangle 23"/>
          <p:cNvSpPr>
            <a:spLocks noChangeArrowheads="1"/>
          </p:cNvSpPr>
          <p:nvPr/>
        </p:nvSpPr>
        <p:spPr bwMode="auto">
          <a:xfrm>
            <a:off x="522462" y="1092558"/>
            <a:ext cx="35052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b, 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}	</a:t>
            </a:r>
          </a:p>
          <a:p>
            <a:pPr marL="457200" indent="-457200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 flipH="1">
            <a:off x="465137" y="1848394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 flipH="1">
            <a:off x="465137" y="2229394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4953000" y="2717800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6992938" y="1819275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894513" y="1544638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95725" y="3086101"/>
            <a:ext cx="1335088" cy="3117851"/>
            <a:chOff x="2454" y="1944"/>
            <a:chExt cx="841" cy="1964"/>
          </a:xfrm>
        </p:grpSpPr>
        <p:sp>
          <p:nvSpPr>
            <p:cNvPr id="51225" name="Text Box 7"/>
            <p:cNvSpPr txBox="1">
              <a:spLocks noChangeArrowheads="1"/>
            </p:cNvSpPr>
            <p:nvPr/>
          </p:nvSpPr>
          <p:spPr bwMode="auto">
            <a:xfrm>
              <a:off x="2832" y="2144"/>
              <a:ext cx="278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f:3</a:t>
              </a:r>
            </a:p>
          </p:txBody>
        </p:sp>
        <p:cxnSp>
          <p:nvCxnSpPr>
            <p:cNvPr id="51226" name="AutoShape 8"/>
            <p:cNvCxnSpPr>
              <a:cxnSpLocks noChangeShapeType="1"/>
              <a:stCxn id="51203" idx="2"/>
              <a:endCxn id="51225" idx="0"/>
            </p:cNvCxnSpPr>
            <p:nvPr/>
          </p:nvCxnSpPr>
          <p:spPr bwMode="auto">
            <a:xfrm rot="5400000">
              <a:off x="3033" y="1882"/>
              <a:ext cx="199" cy="32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1227" name="Text Box 9"/>
            <p:cNvSpPr txBox="1">
              <a:spLocks noChangeArrowheads="1"/>
            </p:cNvSpPr>
            <p:nvPr/>
          </p:nvSpPr>
          <p:spPr bwMode="auto">
            <a:xfrm>
              <a:off x="2645" y="2526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c:2</a:t>
              </a:r>
            </a:p>
          </p:txBody>
        </p:sp>
        <p:cxnSp>
          <p:nvCxnSpPr>
            <p:cNvPr id="51228" name="AutoShape 10"/>
            <p:cNvCxnSpPr>
              <a:cxnSpLocks noChangeShapeType="1"/>
              <a:stCxn id="51225" idx="2"/>
              <a:endCxn id="51227" idx="0"/>
            </p:cNvCxnSpPr>
            <p:nvPr/>
          </p:nvCxnSpPr>
          <p:spPr bwMode="auto">
            <a:xfrm rot="5400000">
              <a:off x="2809" y="2364"/>
              <a:ext cx="149" cy="17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1229" name="Text Box 11"/>
            <p:cNvSpPr txBox="1">
              <a:spLocks noChangeArrowheads="1"/>
            </p:cNvSpPr>
            <p:nvPr/>
          </p:nvSpPr>
          <p:spPr bwMode="auto">
            <a:xfrm>
              <a:off x="2640" y="2908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a:2</a:t>
              </a:r>
            </a:p>
          </p:txBody>
        </p:sp>
        <p:sp>
          <p:nvSpPr>
            <p:cNvPr id="51230" name="Text Box 12"/>
            <p:cNvSpPr txBox="1">
              <a:spLocks noChangeArrowheads="1"/>
            </p:cNvSpPr>
            <p:nvPr/>
          </p:nvSpPr>
          <p:spPr bwMode="auto">
            <a:xfrm>
              <a:off x="2454" y="3292"/>
              <a:ext cx="343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m:1</a:t>
              </a:r>
            </a:p>
          </p:txBody>
        </p:sp>
        <p:sp>
          <p:nvSpPr>
            <p:cNvPr id="51231" name="Text Box 13"/>
            <p:cNvSpPr txBox="1">
              <a:spLocks noChangeArrowheads="1"/>
            </p:cNvSpPr>
            <p:nvPr/>
          </p:nvSpPr>
          <p:spPr bwMode="auto">
            <a:xfrm>
              <a:off x="2472" y="3675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p:1</a:t>
              </a:r>
            </a:p>
          </p:txBody>
        </p:sp>
        <p:cxnSp>
          <p:nvCxnSpPr>
            <p:cNvPr id="51232" name="AutoShape 14"/>
            <p:cNvCxnSpPr>
              <a:cxnSpLocks noChangeShapeType="1"/>
              <a:stCxn id="51227" idx="2"/>
              <a:endCxn id="51229" idx="0"/>
            </p:cNvCxnSpPr>
            <p:nvPr/>
          </p:nvCxnSpPr>
          <p:spPr bwMode="auto">
            <a:xfrm rot="5400000">
              <a:off x="2721" y="2833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33" name="AutoShape 15"/>
            <p:cNvCxnSpPr>
              <a:cxnSpLocks noChangeShapeType="1"/>
              <a:stCxn id="51229" idx="2"/>
              <a:endCxn id="51230" idx="0"/>
            </p:cNvCxnSpPr>
            <p:nvPr/>
          </p:nvCxnSpPr>
          <p:spPr bwMode="auto">
            <a:xfrm rot="5400000">
              <a:off x="2635" y="3131"/>
              <a:ext cx="151" cy="17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34" name="AutoShape 16"/>
            <p:cNvCxnSpPr>
              <a:cxnSpLocks noChangeShapeType="1"/>
              <a:stCxn id="51230" idx="2"/>
              <a:endCxn id="51231" idx="0"/>
            </p:cNvCxnSpPr>
            <p:nvPr/>
          </p:nvCxnSpPr>
          <p:spPr bwMode="auto">
            <a:xfrm rot="16200000" flipH="1">
              <a:off x="2551" y="3599"/>
              <a:ext cx="150" cy="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51207" name="Line 17"/>
          <p:cNvSpPr>
            <a:spLocks noChangeShapeType="1"/>
          </p:cNvSpPr>
          <p:nvPr/>
        </p:nvSpPr>
        <p:spPr bwMode="auto">
          <a:xfrm flipH="1">
            <a:off x="609600" y="18288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8" name="Line 18"/>
          <p:cNvSpPr>
            <a:spLocks noChangeShapeType="1"/>
          </p:cNvSpPr>
          <p:nvPr/>
        </p:nvSpPr>
        <p:spPr bwMode="auto">
          <a:xfrm flipH="1">
            <a:off x="533400" y="20574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9" name="Text Box 19"/>
          <p:cNvSpPr txBox="1">
            <a:spLocks noChangeArrowheads="1"/>
          </p:cNvSpPr>
          <p:nvPr/>
        </p:nvSpPr>
        <p:spPr bwMode="auto">
          <a:xfrm>
            <a:off x="4684713" y="52339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1210" name="AutoShape 20"/>
          <p:cNvCxnSpPr>
            <a:cxnSpLocks noChangeShapeType="1"/>
            <a:endCxn id="51209" idx="0"/>
          </p:cNvCxnSpPr>
          <p:nvPr/>
        </p:nvCxnSpPr>
        <p:spPr bwMode="auto">
          <a:xfrm>
            <a:off x="4572000" y="5022850"/>
            <a:ext cx="358935" cy="21113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1" name="Text Box 21"/>
          <p:cNvSpPr txBox="1">
            <a:spLocks noChangeArrowheads="1"/>
          </p:cNvSpPr>
          <p:nvPr/>
        </p:nvSpPr>
        <p:spPr bwMode="auto">
          <a:xfrm>
            <a:off x="4656138" y="5842000"/>
            <a:ext cx="543739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1212" name="AutoShape 22"/>
          <p:cNvCxnSpPr>
            <a:cxnSpLocks noChangeShapeType="1"/>
            <a:stCxn id="51209" idx="2"/>
            <a:endCxn id="51211" idx="0"/>
          </p:cNvCxnSpPr>
          <p:nvPr/>
        </p:nvCxnSpPr>
        <p:spPr bwMode="auto">
          <a:xfrm rot="5400000">
            <a:off x="4810132" y="5721197"/>
            <a:ext cx="238680" cy="292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4" name="Text Box 24"/>
          <p:cNvSpPr txBox="1">
            <a:spLocks noChangeArrowheads="1"/>
          </p:cNvSpPr>
          <p:nvPr/>
        </p:nvSpPr>
        <p:spPr bwMode="auto">
          <a:xfrm>
            <a:off x="4800600" y="4003675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1215" name="AutoShape 25"/>
          <p:cNvCxnSpPr>
            <a:cxnSpLocks noChangeShapeType="1"/>
            <a:endCxn id="51214" idx="0"/>
          </p:cNvCxnSpPr>
          <p:nvPr/>
        </p:nvCxnSpPr>
        <p:spPr bwMode="auto">
          <a:xfrm>
            <a:off x="4735513" y="3790950"/>
            <a:ext cx="311309" cy="2127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6" name="Rectangle 26"/>
          <p:cNvSpPr>
            <a:spLocks noChangeArrowheads="1"/>
          </p:cNvSpPr>
          <p:nvPr/>
        </p:nvSpPr>
        <p:spPr bwMode="auto">
          <a:xfrm>
            <a:off x="609600" y="1066800"/>
            <a:ext cx="32766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 b, p}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sp>
        <p:nvSpPr>
          <p:cNvPr id="51224" name="Line 34"/>
          <p:cNvSpPr>
            <a:spLocks noChangeShapeType="1"/>
          </p:cNvSpPr>
          <p:nvPr/>
        </p:nvSpPr>
        <p:spPr bwMode="auto">
          <a:xfrm flipH="1">
            <a:off x="609600" y="15240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4953000" y="2717800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6992938" y="1819275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894513" y="1544638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95725" y="3086101"/>
            <a:ext cx="1335088" cy="3117851"/>
            <a:chOff x="2454" y="1944"/>
            <a:chExt cx="841" cy="1964"/>
          </a:xfrm>
        </p:grpSpPr>
        <p:sp>
          <p:nvSpPr>
            <p:cNvPr id="51225" name="Text Box 7"/>
            <p:cNvSpPr txBox="1">
              <a:spLocks noChangeArrowheads="1"/>
            </p:cNvSpPr>
            <p:nvPr/>
          </p:nvSpPr>
          <p:spPr bwMode="auto">
            <a:xfrm>
              <a:off x="2832" y="2144"/>
              <a:ext cx="278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f:3</a:t>
              </a:r>
            </a:p>
          </p:txBody>
        </p:sp>
        <p:cxnSp>
          <p:nvCxnSpPr>
            <p:cNvPr id="51226" name="AutoShape 8"/>
            <p:cNvCxnSpPr>
              <a:cxnSpLocks noChangeShapeType="1"/>
              <a:stCxn id="51203" idx="2"/>
              <a:endCxn id="51225" idx="0"/>
            </p:cNvCxnSpPr>
            <p:nvPr/>
          </p:nvCxnSpPr>
          <p:spPr bwMode="auto">
            <a:xfrm rot="5400000">
              <a:off x="3033" y="1882"/>
              <a:ext cx="199" cy="32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1227" name="Text Box 9"/>
            <p:cNvSpPr txBox="1">
              <a:spLocks noChangeArrowheads="1"/>
            </p:cNvSpPr>
            <p:nvPr/>
          </p:nvSpPr>
          <p:spPr bwMode="auto">
            <a:xfrm>
              <a:off x="2645" y="2526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c:2</a:t>
              </a:r>
            </a:p>
          </p:txBody>
        </p:sp>
        <p:cxnSp>
          <p:nvCxnSpPr>
            <p:cNvPr id="51228" name="AutoShape 10"/>
            <p:cNvCxnSpPr>
              <a:cxnSpLocks noChangeShapeType="1"/>
              <a:stCxn id="51225" idx="2"/>
              <a:endCxn id="51227" idx="0"/>
            </p:cNvCxnSpPr>
            <p:nvPr/>
          </p:nvCxnSpPr>
          <p:spPr bwMode="auto">
            <a:xfrm rot="5400000">
              <a:off x="2809" y="2364"/>
              <a:ext cx="149" cy="17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1229" name="Text Box 11"/>
            <p:cNvSpPr txBox="1">
              <a:spLocks noChangeArrowheads="1"/>
            </p:cNvSpPr>
            <p:nvPr/>
          </p:nvSpPr>
          <p:spPr bwMode="auto">
            <a:xfrm>
              <a:off x="2640" y="2908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a:2</a:t>
              </a:r>
            </a:p>
          </p:txBody>
        </p:sp>
        <p:sp>
          <p:nvSpPr>
            <p:cNvPr id="51230" name="Text Box 12"/>
            <p:cNvSpPr txBox="1">
              <a:spLocks noChangeArrowheads="1"/>
            </p:cNvSpPr>
            <p:nvPr/>
          </p:nvSpPr>
          <p:spPr bwMode="auto">
            <a:xfrm>
              <a:off x="2454" y="3292"/>
              <a:ext cx="343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m:1</a:t>
              </a:r>
            </a:p>
          </p:txBody>
        </p:sp>
        <p:sp>
          <p:nvSpPr>
            <p:cNvPr id="51231" name="Text Box 13"/>
            <p:cNvSpPr txBox="1">
              <a:spLocks noChangeArrowheads="1"/>
            </p:cNvSpPr>
            <p:nvPr/>
          </p:nvSpPr>
          <p:spPr bwMode="auto">
            <a:xfrm>
              <a:off x="2472" y="3675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p:1</a:t>
              </a:r>
            </a:p>
          </p:txBody>
        </p:sp>
        <p:cxnSp>
          <p:nvCxnSpPr>
            <p:cNvPr id="51232" name="AutoShape 14"/>
            <p:cNvCxnSpPr>
              <a:cxnSpLocks noChangeShapeType="1"/>
              <a:stCxn id="51227" idx="2"/>
              <a:endCxn id="51229" idx="0"/>
            </p:cNvCxnSpPr>
            <p:nvPr/>
          </p:nvCxnSpPr>
          <p:spPr bwMode="auto">
            <a:xfrm rot="5400000">
              <a:off x="2721" y="2833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33" name="AutoShape 15"/>
            <p:cNvCxnSpPr>
              <a:cxnSpLocks noChangeShapeType="1"/>
              <a:stCxn id="51229" idx="2"/>
              <a:endCxn id="51230" idx="0"/>
            </p:cNvCxnSpPr>
            <p:nvPr/>
          </p:nvCxnSpPr>
          <p:spPr bwMode="auto">
            <a:xfrm rot="5400000">
              <a:off x="2635" y="3131"/>
              <a:ext cx="151" cy="17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34" name="AutoShape 16"/>
            <p:cNvCxnSpPr>
              <a:cxnSpLocks noChangeShapeType="1"/>
              <a:stCxn id="51230" idx="2"/>
              <a:endCxn id="51231" idx="0"/>
            </p:cNvCxnSpPr>
            <p:nvPr/>
          </p:nvCxnSpPr>
          <p:spPr bwMode="auto">
            <a:xfrm rot="16200000" flipH="1">
              <a:off x="2551" y="3599"/>
              <a:ext cx="150" cy="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51207" name="Line 17"/>
          <p:cNvSpPr>
            <a:spLocks noChangeShapeType="1"/>
          </p:cNvSpPr>
          <p:nvPr/>
        </p:nvSpPr>
        <p:spPr bwMode="auto">
          <a:xfrm flipH="1">
            <a:off x="609600" y="18288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8" name="Line 18"/>
          <p:cNvSpPr>
            <a:spLocks noChangeShapeType="1"/>
          </p:cNvSpPr>
          <p:nvPr/>
        </p:nvSpPr>
        <p:spPr bwMode="auto">
          <a:xfrm flipH="1">
            <a:off x="533400" y="20574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9" name="Text Box 19"/>
          <p:cNvSpPr txBox="1">
            <a:spLocks noChangeArrowheads="1"/>
          </p:cNvSpPr>
          <p:nvPr/>
        </p:nvSpPr>
        <p:spPr bwMode="auto">
          <a:xfrm>
            <a:off x="4684713" y="52339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1210" name="AutoShape 20"/>
          <p:cNvCxnSpPr>
            <a:cxnSpLocks noChangeShapeType="1"/>
            <a:endCxn id="51209" idx="0"/>
          </p:cNvCxnSpPr>
          <p:nvPr/>
        </p:nvCxnSpPr>
        <p:spPr bwMode="auto">
          <a:xfrm>
            <a:off x="4572000" y="5022850"/>
            <a:ext cx="358935" cy="21113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1" name="Text Box 21"/>
          <p:cNvSpPr txBox="1">
            <a:spLocks noChangeArrowheads="1"/>
          </p:cNvSpPr>
          <p:nvPr/>
        </p:nvSpPr>
        <p:spPr bwMode="auto">
          <a:xfrm>
            <a:off x="4656138" y="5842000"/>
            <a:ext cx="543739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1212" name="AutoShape 22"/>
          <p:cNvCxnSpPr>
            <a:cxnSpLocks noChangeShapeType="1"/>
            <a:stCxn id="51209" idx="2"/>
            <a:endCxn id="51211" idx="0"/>
          </p:cNvCxnSpPr>
          <p:nvPr/>
        </p:nvCxnSpPr>
        <p:spPr bwMode="auto">
          <a:xfrm rot="5400000">
            <a:off x="4810132" y="5721197"/>
            <a:ext cx="238680" cy="292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3" name="Line 23"/>
          <p:cNvSpPr>
            <a:spLocks noChangeShapeType="1"/>
          </p:cNvSpPr>
          <p:nvPr/>
        </p:nvSpPr>
        <p:spPr bwMode="auto">
          <a:xfrm flipH="1">
            <a:off x="533400" y="23622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14" name="Text Box 24"/>
          <p:cNvSpPr txBox="1">
            <a:spLocks noChangeArrowheads="1"/>
          </p:cNvSpPr>
          <p:nvPr/>
        </p:nvSpPr>
        <p:spPr bwMode="auto">
          <a:xfrm>
            <a:off x="4800600" y="4003675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1215" name="AutoShape 25"/>
          <p:cNvCxnSpPr>
            <a:cxnSpLocks noChangeShapeType="1"/>
            <a:endCxn id="51214" idx="0"/>
          </p:cNvCxnSpPr>
          <p:nvPr/>
        </p:nvCxnSpPr>
        <p:spPr bwMode="auto">
          <a:xfrm>
            <a:off x="4735513" y="3790950"/>
            <a:ext cx="311309" cy="2127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1216" name="Rectangle 26"/>
          <p:cNvSpPr>
            <a:spLocks noChangeArrowheads="1"/>
          </p:cNvSpPr>
          <p:nvPr/>
        </p:nvSpPr>
        <p:spPr bwMode="auto">
          <a:xfrm>
            <a:off x="609600" y="1066800"/>
            <a:ext cx="32766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b, 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}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609600" y="1524000"/>
            <a:ext cx="5573713" cy="3470275"/>
            <a:chOff x="384" y="960"/>
            <a:chExt cx="3511" cy="2186"/>
          </a:xfrm>
        </p:grpSpPr>
        <p:sp>
          <p:nvSpPr>
            <p:cNvPr id="51218" name="Text Box 28"/>
            <p:cNvSpPr txBox="1">
              <a:spLocks noChangeArrowheads="1"/>
            </p:cNvSpPr>
            <p:nvPr/>
          </p:nvSpPr>
          <p:spPr bwMode="auto">
            <a:xfrm>
              <a:off x="3589" y="2149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c:1</a:t>
              </a:r>
            </a:p>
          </p:txBody>
        </p:sp>
        <p:sp>
          <p:nvSpPr>
            <p:cNvPr id="51219" name="Text Box 29"/>
            <p:cNvSpPr txBox="1">
              <a:spLocks noChangeArrowheads="1"/>
            </p:cNvSpPr>
            <p:nvPr/>
          </p:nvSpPr>
          <p:spPr bwMode="auto">
            <a:xfrm>
              <a:off x="3585" y="2531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b:1</a:t>
              </a:r>
            </a:p>
          </p:txBody>
        </p:sp>
        <p:sp>
          <p:nvSpPr>
            <p:cNvPr id="51220" name="Text Box 30"/>
            <p:cNvSpPr txBox="1">
              <a:spLocks noChangeArrowheads="1"/>
            </p:cNvSpPr>
            <p:nvPr/>
          </p:nvSpPr>
          <p:spPr bwMode="auto">
            <a:xfrm>
              <a:off x="3585" y="2913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p:1</a:t>
              </a:r>
            </a:p>
          </p:txBody>
        </p:sp>
        <p:cxnSp>
          <p:nvCxnSpPr>
            <p:cNvPr id="51221" name="AutoShape 31"/>
            <p:cNvCxnSpPr>
              <a:cxnSpLocks noChangeShapeType="1"/>
              <a:stCxn id="51218" idx="2"/>
              <a:endCxn id="51219" idx="0"/>
            </p:cNvCxnSpPr>
            <p:nvPr/>
          </p:nvCxnSpPr>
          <p:spPr bwMode="auto">
            <a:xfrm rot="16200000" flipH="1">
              <a:off x="3665" y="2456"/>
              <a:ext cx="149" cy="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22" name="AutoShape 32"/>
            <p:cNvCxnSpPr>
              <a:cxnSpLocks noChangeShapeType="1"/>
              <a:stCxn id="51219" idx="2"/>
              <a:endCxn id="51220" idx="0"/>
            </p:cNvCxnSpPr>
            <p:nvPr/>
          </p:nvCxnSpPr>
          <p:spPr bwMode="auto">
            <a:xfrm rot="5400000">
              <a:off x="3665" y="2838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1223" name="AutoShape 33"/>
            <p:cNvCxnSpPr>
              <a:cxnSpLocks noChangeShapeType="1"/>
              <a:endCxn id="51218" idx="0"/>
            </p:cNvCxnSpPr>
            <p:nvPr/>
          </p:nvCxnSpPr>
          <p:spPr bwMode="auto">
            <a:xfrm>
              <a:off x="3440" y="1967"/>
              <a:ext cx="300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1224" name="Line 34"/>
            <p:cNvSpPr>
              <a:spLocks noChangeShapeType="1"/>
            </p:cNvSpPr>
            <p:nvPr/>
          </p:nvSpPr>
          <p:spPr bwMode="auto">
            <a:xfrm flipH="1">
              <a:off x="384" y="960"/>
              <a:ext cx="1579" cy="0"/>
            </a:xfrm>
            <a:prstGeom prst="line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4953000" y="2717800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7069138" y="1971675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6970713" y="1697038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95725" y="3086101"/>
            <a:ext cx="1335088" cy="3117851"/>
            <a:chOff x="2454" y="1944"/>
            <a:chExt cx="841" cy="1964"/>
          </a:xfrm>
        </p:grpSpPr>
        <p:sp>
          <p:nvSpPr>
            <p:cNvPr id="52263" name="Text Box 7"/>
            <p:cNvSpPr txBox="1">
              <a:spLocks noChangeArrowheads="1"/>
            </p:cNvSpPr>
            <p:nvPr/>
          </p:nvSpPr>
          <p:spPr bwMode="auto">
            <a:xfrm>
              <a:off x="2832" y="2144"/>
              <a:ext cx="278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f:4</a:t>
              </a:r>
            </a:p>
          </p:txBody>
        </p:sp>
        <p:cxnSp>
          <p:nvCxnSpPr>
            <p:cNvPr id="52264" name="AutoShape 8"/>
            <p:cNvCxnSpPr>
              <a:cxnSpLocks noChangeShapeType="1"/>
              <a:stCxn id="52227" idx="2"/>
              <a:endCxn id="52263" idx="0"/>
            </p:cNvCxnSpPr>
            <p:nvPr/>
          </p:nvCxnSpPr>
          <p:spPr bwMode="auto">
            <a:xfrm rot="5400000">
              <a:off x="3033" y="1882"/>
              <a:ext cx="199" cy="32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2265" name="Text Box 9"/>
            <p:cNvSpPr txBox="1">
              <a:spLocks noChangeArrowheads="1"/>
            </p:cNvSpPr>
            <p:nvPr/>
          </p:nvSpPr>
          <p:spPr bwMode="auto">
            <a:xfrm>
              <a:off x="2645" y="2526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c:3</a:t>
              </a:r>
            </a:p>
          </p:txBody>
        </p:sp>
        <p:cxnSp>
          <p:nvCxnSpPr>
            <p:cNvPr id="52266" name="AutoShape 10"/>
            <p:cNvCxnSpPr>
              <a:cxnSpLocks noChangeShapeType="1"/>
              <a:stCxn id="52263" idx="2"/>
              <a:endCxn id="52265" idx="0"/>
            </p:cNvCxnSpPr>
            <p:nvPr/>
          </p:nvCxnSpPr>
          <p:spPr bwMode="auto">
            <a:xfrm rot="5400000">
              <a:off x="2809" y="2364"/>
              <a:ext cx="149" cy="17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2267" name="Text Box 11"/>
            <p:cNvSpPr txBox="1">
              <a:spLocks noChangeArrowheads="1"/>
            </p:cNvSpPr>
            <p:nvPr/>
          </p:nvSpPr>
          <p:spPr bwMode="auto">
            <a:xfrm>
              <a:off x="2640" y="2908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a:3</a:t>
              </a:r>
            </a:p>
          </p:txBody>
        </p:sp>
        <p:sp>
          <p:nvSpPr>
            <p:cNvPr id="52268" name="Text Box 12"/>
            <p:cNvSpPr txBox="1">
              <a:spLocks noChangeArrowheads="1"/>
            </p:cNvSpPr>
            <p:nvPr/>
          </p:nvSpPr>
          <p:spPr bwMode="auto">
            <a:xfrm>
              <a:off x="2454" y="3292"/>
              <a:ext cx="343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m:2</a:t>
              </a:r>
            </a:p>
          </p:txBody>
        </p:sp>
        <p:sp>
          <p:nvSpPr>
            <p:cNvPr id="52269" name="Text Box 13"/>
            <p:cNvSpPr txBox="1">
              <a:spLocks noChangeArrowheads="1"/>
            </p:cNvSpPr>
            <p:nvPr/>
          </p:nvSpPr>
          <p:spPr bwMode="auto">
            <a:xfrm>
              <a:off x="2472" y="3675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p:2</a:t>
              </a:r>
            </a:p>
          </p:txBody>
        </p:sp>
        <p:cxnSp>
          <p:nvCxnSpPr>
            <p:cNvPr id="52270" name="AutoShape 14"/>
            <p:cNvCxnSpPr>
              <a:cxnSpLocks noChangeShapeType="1"/>
              <a:stCxn id="52265" idx="2"/>
              <a:endCxn id="52267" idx="0"/>
            </p:cNvCxnSpPr>
            <p:nvPr/>
          </p:nvCxnSpPr>
          <p:spPr bwMode="auto">
            <a:xfrm rot="5400000">
              <a:off x="2721" y="2833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271" name="AutoShape 15"/>
            <p:cNvCxnSpPr>
              <a:cxnSpLocks noChangeShapeType="1"/>
              <a:stCxn id="52267" idx="2"/>
              <a:endCxn id="52268" idx="0"/>
            </p:cNvCxnSpPr>
            <p:nvPr/>
          </p:nvCxnSpPr>
          <p:spPr bwMode="auto">
            <a:xfrm rot="5400000">
              <a:off x="2635" y="3131"/>
              <a:ext cx="151" cy="17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272" name="AutoShape 16"/>
            <p:cNvCxnSpPr>
              <a:cxnSpLocks noChangeShapeType="1"/>
              <a:stCxn id="52268" idx="2"/>
              <a:endCxn id="52269" idx="0"/>
            </p:cNvCxnSpPr>
            <p:nvPr/>
          </p:nvCxnSpPr>
          <p:spPr bwMode="auto">
            <a:xfrm rot="16200000" flipH="1">
              <a:off x="2551" y="3599"/>
              <a:ext cx="150" cy="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52231" name="Line 17"/>
          <p:cNvSpPr>
            <a:spLocks noChangeShapeType="1"/>
          </p:cNvSpPr>
          <p:nvPr/>
        </p:nvSpPr>
        <p:spPr bwMode="auto">
          <a:xfrm flipH="1">
            <a:off x="990600" y="22098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2" name="Line 18"/>
          <p:cNvSpPr>
            <a:spLocks noChangeShapeType="1"/>
          </p:cNvSpPr>
          <p:nvPr/>
        </p:nvSpPr>
        <p:spPr bwMode="auto">
          <a:xfrm flipH="1">
            <a:off x="914400" y="25146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3" name="Text Box 19"/>
          <p:cNvSpPr txBox="1">
            <a:spLocks noChangeArrowheads="1"/>
          </p:cNvSpPr>
          <p:nvPr/>
        </p:nvSpPr>
        <p:spPr bwMode="auto">
          <a:xfrm>
            <a:off x="4684713" y="52339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2234" name="AutoShape 20"/>
          <p:cNvCxnSpPr>
            <a:cxnSpLocks noChangeShapeType="1"/>
            <a:endCxn id="52233" idx="0"/>
          </p:cNvCxnSpPr>
          <p:nvPr/>
        </p:nvCxnSpPr>
        <p:spPr bwMode="auto">
          <a:xfrm>
            <a:off x="4572000" y="5022850"/>
            <a:ext cx="358935" cy="21113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35" name="Text Box 21"/>
          <p:cNvSpPr txBox="1">
            <a:spLocks noChangeArrowheads="1"/>
          </p:cNvSpPr>
          <p:nvPr/>
        </p:nvSpPr>
        <p:spPr bwMode="auto">
          <a:xfrm>
            <a:off x="4656138" y="5842000"/>
            <a:ext cx="543739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2236" name="AutoShape 22"/>
          <p:cNvCxnSpPr>
            <a:cxnSpLocks noChangeShapeType="1"/>
            <a:stCxn id="52233" idx="2"/>
            <a:endCxn id="52235" idx="0"/>
          </p:cNvCxnSpPr>
          <p:nvPr/>
        </p:nvCxnSpPr>
        <p:spPr bwMode="auto">
          <a:xfrm rot="5400000">
            <a:off x="4810132" y="5721197"/>
            <a:ext cx="238680" cy="292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37" name="Line 23"/>
          <p:cNvSpPr>
            <a:spLocks noChangeShapeType="1"/>
          </p:cNvSpPr>
          <p:nvPr/>
        </p:nvSpPr>
        <p:spPr bwMode="auto">
          <a:xfrm flipH="1">
            <a:off x="762000" y="30480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8" name="Text Box 24"/>
          <p:cNvSpPr txBox="1">
            <a:spLocks noChangeArrowheads="1"/>
          </p:cNvSpPr>
          <p:nvPr/>
        </p:nvSpPr>
        <p:spPr bwMode="auto">
          <a:xfrm>
            <a:off x="4800600" y="4003675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2239" name="AutoShape 25"/>
          <p:cNvCxnSpPr>
            <a:cxnSpLocks noChangeShapeType="1"/>
            <a:endCxn id="52238" idx="0"/>
          </p:cNvCxnSpPr>
          <p:nvPr/>
        </p:nvCxnSpPr>
        <p:spPr bwMode="auto">
          <a:xfrm>
            <a:off x="4735513" y="3790950"/>
            <a:ext cx="311309" cy="2127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40" name="Rectangle 26"/>
          <p:cNvSpPr>
            <a:spLocks noChangeArrowheads="1"/>
          </p:cNvSpPr>
          <p:nvPr/>
        </p:nvSpPr>
        <p:spPr bwMode="auto">
          <a:xfrm>
            <a:off x="838200" y="1447800"/>
            <a:ext cx="3048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b, 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}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sp>
        <p:nvSpPr>
          <p:cNvPr id="52241" name="Text Box 27"/>
          <p:cNvSpPr txBox="1">
            <a:spLocks noChangeArrowheads="1"/>
          </p:cNvSpPr>
          <p:nvPr/>
        </p:nvSpPr>
        <p:spPr bwMode="auto">
          <a:xfrm>
            <a:off x="5697538" y="3411538"/>
            <a:ext cx="479618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c:1</a:t>
            </a:r>
          </a:p>
        </p:txBody>
      </p:sp>
      <p:sp>
        <p:nvSpPr>
          <p:cNvPr id="52242" name="Text Box 28"/>
          <p:cNvSpPr txBox="1">
            <a:spLocks noChangeArrowheads="1"/>
          </p:cNvSpPr>
          <p:nvPr/>
        </p:nvSpPr>
        <p:spPr bwMode="auto">
          <a:xfrm>
            <a:off x="5691188" y="4017963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sp>
        <p:nvSpPr>
          <p:cNvPr id="52243" name="Text Box 29"/>
          <p:cNvSpPr txBox="1">
            <a:spLocks noChangeArrowheads="1"/>
          </p:cNvSpPr>
          <p:nvPr/>
        </p:nvSpPr>
        <p:spPr bwMode="auto">
          <a:xfrm>
            <a:off x="5691188" y="46243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p:1</a:t>
            </a:r>
          </a:p>
        </p:txBody>
      </p:sp>
      <p:cxnSp>
        <p:nvCxnSpPr>
          <p:cNvPr id="52244" name="AutoShape 30"/>
          <p:cNvCxnSpPr>
            <a:cxnSpLocks noChangeShapeType="1"/>
            <a:stCxn id="52241" idx="2"/>
            <a:endCxn id="52242" idx="0"/>
          </p:cNvCxnSpPr>
          <p:nvPr/>
        </p:nvCxnSpPr>
        <p:spPr bwMode="auto">
          <a:xfrm rot="16200000" flipH="1">
            <a:off x="5818832" y="3899384"/>
            <a:ext cx="237093" cy="63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cxnSp>
        <p:nvCxnSpPr>
          <p:cNvPr id="52245" name="AutoShape 31"/>
          <p:cNvCxnSpPr>
            <a:cxnSpLocks noChangeShapeType="1"/>
            <a:stCxn id="52242" idx="2"/>
            <a:endCxn id="52243" idx="0"/>
          </p:cNvCxnSpPr>
          <p:nvPr/>
        </p:nvCxnSpPr>
        <p:spPr bwMode="auto">
          <a:xfrm rot="5400000">
            <a:off x="5818864" y="4505841"/>
            <a:ext cx="237093" cy="15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cxnSp>
        <p:nvCxnSpPr>
          <p:cNvPr id="52246" name="AutoShape 32"/>
          <p:cNvCxnSpPr>
            <a:cxnSpLocks noChangeShapeType="1"/>
            <a:endCxn id="52241" idx="0"/>
          </p:cNvCxnSpPr>
          <p:nvPr/>
        </p:nvCxnSpPr>
        <p:spPr bwMode="auto">
          <a:xfrm>
            <a:off x="5461000" y="3122613"/>
            <a:ext cx="476347" cy="2889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47" name="Line 33"/>
          <p:cNvSpPr>
            <a:spLocks noChangeShapeType="1"/>
          </p:cNvSpPr>
          <p:nvPr/>
        </p:nvSpPr>
        <p:spPr bwMode="auto">
          <a:xfrm flipH="1">
            <a:off x="838200" y="27432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48" name="Line 34"/>
          <p:cNvSpPr>
            <a:spLocks noChangeShapeType="1"/>
          </p:cNvSpPr>
          <p:nvPr/>
        </p:nvSpPr>
        <p:spPr bwMode="auto">
          <a:xfrm flipH="1">
            <a:off x="990600" y="19050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51" name="Text Box 48"/>
          <p:cNvSpPr txBox="1">
            <a:spLocks noChangeArrowheads="1"/>
          </p:cNvSpPr>
          <p:nvPr/>
        </p:nvSpPr>
        <p:spPr bwMode="auto">
          <a:xfrm>
            <a:off x="1219200" y="3341688"/>
            <a:ext cx="2319338" cy="20859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Header Table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Item  frequency  head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p	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F476FD-5F95-C48E-6011-D274DDB7BCDE}"/>
                  </a:ext>
                </a:extLst>
              </p14:cNvPr>
              <p14:cNvContentPartPr/>
              <p14:nvPr/>
            </p14:nvContentPartPr>
            <p14:xfrm>
              <a:off x="1666253" y="6050000"/>
              <a:ext cx="360" cy="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F476FD-5F95-C48E-6011-D274DDB7BC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0133" y="6043880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8B7335-B6D6-561F-C5B1-6EA7A0E0953E}"/>
                  </a:ext>
                </a:extLst>
              </p14:cNvPr>
              <p14:cNvContentPartPr/>
              <p14:nvPr/>
            </p14:nvContentPartPr>
            <p14:xfrm>
              <a:off x="-446587" y="312500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8B7335-B6D6-561F-C5B1-6EA7A0E095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2707" y="311888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9CD3-90A0-45F1-06D8-294A456D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50E2C92-A30C-E968-7F99-BD36D33BB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041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FP-tree Construction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0FE88AF3-31FD-600C-7263-A3E1C7588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717800"/>
            <a:ext cx="55656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root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99856AF0-1322-AE03-F652-392CB1A1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1971675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FE32D4F9-6002-AC7D-975E-E4AE407D2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713" y="1697038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AF5B78F1-BC01-C961-ABB4-1220D179F0CC}"/>
              </a:ext>
            </a:extLst>
          </p:cNvPr>
          <p:cNvGrpSpPr>
            <a:grpSpLocks/>
          </p:cNvGrpSpPr>
          <p:nvPr/>
        </p:nvGrpSpPr>
        <p:grpSpPr bwMode="auto">
          <a:xfrm>
            <a:off x="3895725" y="3086101"/>
            <a:ext cx="1335088" cy="3117851"/>
            <a:chOff x="2454" y="1944"/>
            <a:chExt cx="841" cy="1964"/>
          </a:xfrm>
        </p:grpSpPr>
        <p:sp>
          <p:nvSpPr>
            <p:cNvPr id="52263" name="Text Box 7">
              <a:extLst>
                <a:ext uri="{FF2B5EF4-FFF2-40B4-BE49-F238E27FC236}">
                  <a16:creationId xmlns:a16="http://schemas.microsoft.com/office/drawing/2014/main" id="{5AB9F7E2-FA6B-39EB-82D0-B63489B4B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144"/>
              <a:ext cx="278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f:4</a:t>
              </a:r>
            </a:p>
          </p:txBody>
        </p:sp>
        <p:cxnSp>
          <p:nvCxnSpPr>
            <p:cNvPr id="52264" name="AutoShape 8">
              <a:extLst>
                <a:ext uri="{FF2B5EF4-FFF2-40B4-BE49-F238E27FC236}">
                  <a16:creationId xmlns:a16="http://schemas.microsoft.com/office/drawing/2014/main" id="{71333A7B-9396-D8E4-946C-63D34DD18F54}"/>
                </a:ext>
              </a:extLst>
            </p:cNvPr>
            <p:cNvCxnSpPr>
              <a:cxnSpLocks noChangeShapeType="1"/>
              <a:stCxn id="52227" idx="2"/>
              <a:endCxn id="52263" idx="0"/>
            </p:cNvCxnSpPr>
            <p:nvPr/>
          </p:nvCxnSpPr>
          <p:spPr bwMode="auto">
            <a:xfrm rot="5400000">
              <a:off x="3033" y="1882"/>
              <a:ext cx="199" cy="32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2265" name="Text Box 9">
              <a:extLst>
                <a:ext uri="{FF2B5EF4-FFF2-40B4-BE49-F238E27FC236}">
                  <a16:creationId xmlns:a16="http://schemas.microsoft.com/office/drawing/2014/main" id="{8E7B908B-092A-7F46-89B5-5CF2D335D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5" y="2526"/>
              <a:ext cx="302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c:3</a:t>
              </a:r>
            </a:p>
          </p:txBody>
        </p:sp>
        <p:cxnSp>
          <p:nvCxnSpPr>
            <p:cNvPr id="52266" name="AutoShape 10">
              <a:extLst>
                <a:ext uri="{FF2B5EF4-FFF2-40B4-BE49-F238E27FC236}">
                  <a16:creationId xmlns:a16="http://schemas.microsoft.com/office/drawing/2014/main" id="{379843CA-75FB-CD98-2326-9CF506C1BBBF}"/>
                </a:ext>
              </a:extLst>
            </p:cNvPr>
            <p:cNvCxnSpPr>
              <a:cxnSpLocks noChangeShapeType="1"/>
              <a:stCxn id="52263" idx="2"/>
              <a:endCxn id="52265" idx="0"/>
            </p:cNvCxnSpPr>
            <p:nvPr/>
          </p:nvCxnSpPr>
          <p:spPr bwMode="auto">
            <a:xfrm rot="5400000">
              <a:off x="2809" y="2364"/>
              <a:ext cx="149" cy="17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2267" name="Text Box 11">
              <a:extLst>
                <a:ext uri="{FF2B5EF4-FFF2-40B4-BE49-F238E27FC236}">
                  <a16:creationId xmlns:a16="http://schemas.microsoft.com/office/drawing/2014/main" id="{4ABF569C-9415-1B10-EC16-74748509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08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a:3</a:t>
              </a:r>
            </a:p>
          </p:txBody>
        </p:sp>
        <p:sp>
          <p:nvSpPr>
            <p:cNvPr id="52268" name="Text Box 12">
              <a:extLst>
                <a:ext uri="{FF2B5EF4-FFF2-40B4-BE49-F238E27FC236}">
                  <a16:creationId xmlns:a16="http://schemas.microsoft.com/office/drawing/2014/main" id="{62264277-0282-2BFB-B5CF-D30A2B08F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3292"/>
              <a:ext cx="343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m:2</a:t>
              </a:r>
            </a:p>
          </p:txBody>
        </p:sp>
        <p:sp>
          <p:nvSpPr>
            <p:cNvPr id="52269" name="Text Box 13">
              <a:extLst>
                <a:ext uri="{FF2B5EF4-FFF2-40B4-BE49-F238E27FC236}">
                  <a16:creationId xmlns:a16="http://schemas.microsoft.com/office/drawing/2014/main" id="{DB4A7DB1-97DF-5DC2-344B-1C4118F32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3675"/>
              <a:ext cx="310" cy="23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>
                  <a:latin typeface="Times New Roman" pitchFamily="18" charset="0"/>
                  <a:cs typeface="Times New Roman" pitchFamily="18" charset="0"/>
                </a:rPr>
                <a:t>p:2</a:t>
              </a:r>
            </a:p>
          </p:txBody>
        </p:sp>
        <p:cxnSp>
          <p:nvCxnSpPr>
            <p:cNvPr id="52270" name="AutoShape 14">
              <a:extLst>
                <a:ext uri="{FF2B5EF4-FFF2-40B4-BE49-F238E27FC236}">
                  <a16:creationId xmlns:a16="http://schemas.microsoft.com/office/drawing/2014/main" id="{13F1EF24-15D4-DFC0-884E-A969F9A8E776}"/>
                </a:ext>
              </a:extLst>
            </p:cNvPr>
            <p:cNvCxnSpPr>
              <a:cxnSpLocks noChangeShapeType="1"/>
              <a:stCxn id="52265" idx="2"/>
              <a:endCxn id="52267" idx="0"/>
            </p:cNvCxnSpPr>
            <p:nvPr/>
          </p:nvCxnSpPr>
          <p:spPr bwMode="auto">
            <a:xfrm rot="5400000">
              <a:off x="2721" y="2833"/>
              <a:ext cx="149" cy="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271" name="AutoShape 15">
              <a:extLst>
                <a:ext uri="{FF2B5EF4-FFF2-40B4-BE49-F238E27FC236}">
                  <a16:creationId xmlns:a16="http://schemas.microsoft.com/office/drawing/2014/main" id="{4351F336-294D-A0D4-779F-7564B225BCB6}"/>
                </a:ext>
              </a:extLst>
            </p:cNvPr>
            <p:cNvCxnSpPr>
              <a:cxnSpLocks noChangeShapeType="1"/>
              <a:stCxn id="52267" idx="2"/>
              <a:endCxn id="52268" idx="0"/>
            </p:cNvCxnSpPr>
            <p:nvPr/>
          </p:nvCxnSpPr>
          <p:spPr bwMode="auto">
            <a:xfrm rot="5400000">
              <a:off x="2635" y="3131"/>
              <a:ext cx="151" cy="17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272" name="AutoShape 16">
              <a:extLst>
                <a:ext uri="{FF2B5EF4-FFF2-40B4-BE49-F238E27FC236}">
                  <a16:creationId xmlns:a16="http://schemas.microsoft.com/office/drawing/2014/main" id="{D950FDE1-0D09-D6F7-F12C-B34B028EABB4}"/>
                </a:ext>
              </a:extLst>
            </p:cNvPr>
            <p:cNvCxnSpPr>
              <a:cxnSpLocks noChangeShapeType="1"/>
              <a:stCxn id="52268" idx="2"/>
              <a:endCxn id="52269" idx="0"/>
            </p:cNvCxnSpPr>
            <p:nvPr/>
          </p:nvCxnSpPr>
          <p:spPr bwMode="auto">
            <a:xfrm rot="16200000" flipH="1">
              <a:off x="2551" y="3599"/>
              <a:ext cx="150" cy="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52231" name="Line 17">
            <a:extLst>
              <a:ext uri="{FF2B5EF4-FFF2-40B4-BE49-F238E27FC236}">
                <a16:creationId xmlns:a16="http://schemas.microsoft.com/office/drawing/2014/main" id="{0D33A9F4-C5EF-B822-213B-C813F35257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22098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2" name="Line 18">
            <a:extLst>
              <a:ext uri="{FF2B5EF4-FFF2-40B4-BE49-F238E27FC236}">
                <a16:creationId xmlns:a16="http://schemas.microsoft.com/office/drawing/2014/main" id="{746CC094-1EAA-39B6-4CAF-0EE932D33F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25146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3" name="Text Box 19">
            <a:extLst>
              <a:ext uri="{FF2B5EF4-FFF2-40B4-BE49-F238E27FC236}">
                <a16:creationId xmlns:a16="http://schemas.microsoft.com/office/drawing/2014/main" id="{5F5205EB-EF83-6415-62B4-AC9D19FFD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713" y="52339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2234" name="AutoShape 20">
            <a:extLst>
              <a:ext uri="{FF2B5EF4-FFF2-40B4-BE49-F238E27FC236}">
                <a16:creationId xmlns:a16="http://schemas.microsoft.com/office/drawing/2014/main" id="{CC94E07C-B241-C613-3E31-AAF54126A960}"/>
              </a:ext>
            </a:extLst>
          </p:cNvPr>
          <p:cNvCxnSpPr>
            <a:cxnSpLocks noChangeShapeType="1"/>
            <a:endCxn id="52233" idx="0"/>
          </p:cNvCxnSpPr>
          <p:nvPr/>
        </p:nvCxnSpPr>
        <p:spPr bwMode="auto">
          <a:xfrm>
            <a:off x="4572000" y="5022850"/>
            <a:ext cx="358935" cy="21113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35" name="Text Box 21">
            <a:extLst>
              <a:ext uri="{FF2B5EF4-FFF2-40B4-BE49-F238E27FC236}">
                <a16:creationId xmlns:a16="http://schemas.microsoft.com/office/drawing/2014/main" id="{33BFC2A0-CAE7-737E-867C-22AAA0373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5842000"/>
            <a:ext cx="543739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2236" name="AutoShape 22">
            <a:extLst>
              <a:ext uri="{FF2B5EF4-FFF2-40B4-BE49-F238E27FC236}">
                <a16:creationId xmlns:a16="http://schemas.microsoft.com/office/drawing/2014/main" id="{D0E7C7F3-EE80-DC4F-5100-5CBAC60726E3}"/>
              </a:ext>
            </a:extLst>
          </p:cNvPr>
          <p:cNvCxnSpPr>
            <a:cxnSpLocks noChangeShapeType="1"/>
            <a:stCxn id="52233" idx="2"/>
            <a:endCxn id="52235" idx="0"/>
          </p:cNvCxnSpPr>
          <p:nvPr/>
        </p:nvCxnSpPr>
        <p:spPr bwMode="auto">
          <a:xfrm rot="5400000">
            <a:off x="4810132" y="5721197"/>
            <a:ext cx="238680" cy="292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37" name="Line 23">
            <a:extLst>
              <a:ext uri="{FF2B5EF4-FFF2-40B4-BE49-F238E27FC236}">
                <a16:creationId xmlns:a16="http://schemas.microsoft.com/office/drawing/2014/main" id="{E2F85902-3B15-2C9F-486E-25732C4170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0480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38" name="Text Box 24">
            <a:extLst>
              <a:ext uri="{FF2B5EF4-FFF2-40B4-BE49-F238E27FC236}">
                <a16:creationId xmlns:a16="http://schemas.microsoft.com/office/drawing/2014/main" id="{756CF643-D773-A826-B167-648D56DD3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003675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cxnSp>
        <p:nvCxnSpPr>
          <p:cNvPr id="52239" name="AutoShape 25">
            <a:extLst>
              <a:ext uri="{FF2B5EF4-FFF2-40B4-BE49-F238E27FC236}">
                <a16:creationId xmlns:a16="http://schemas.microsoft.com/office/drawing/2014/main" id="{FD0FFA47-EE29-B1CC-23A3-60FD379F352F}"/>
              </a:ext>
            </a:extLst>
          </p:cNvPr>
          <p:cNvCxnSpPr>
            <a:cxnSpLocks noChangeShapeType="1"/>
            <a:endCxn id="52238" idx="0"/>
          </p:cNvCxnSpPr>
          <p:nvPr/>
        </p:nvCxnSpPr>
        <p:spPr bwMode="auto">
          <a:xfrm>
            <a:off x="4735513" y="3790950"/>
            <a:ext cx="311309" cy="2127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40" name="Rectangle 26">
            <a:extLst>
              <a:ext uri="{FF2B5EF4-FFF2-40B4-BE49-F238E27FC236}">
                <a16:creationId xmlns:a16="http://schemas.microsoft.com/office/drawing/2014/main" id="{B7AEFDBD-C610-B913-3FB0-FF4957A2F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3048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TID		freq. Items bought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		{f, c, a, m, p}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200		{f, c, a, b, m}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300	 	{f, b}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400	 	{c,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b, 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}	</a:t>
            </a:r>
          </a:p>
          <a:p>
            <a:pPr marL="457200" indent="-457200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500	 	{f, c, a, m, p}	</a:t>
            </a:r>
          </a:p>
        </p:txBody>
      </p:sp>
      <p:sp>
        <p:nvSpPr>
          <p:cNvPr id="52241" name="Text Box 27">
            <a:extLst>
              <a:ext uri="{FF2B5EF4-FFF2-40B4-BE49-F238E27FC236}">
                <a16:creationId xmlns:a16="http://schemas.microsoft.com/office/drawing/2014/main" id="{4EC2CBE8-1D5E-5184-1325-D99DCC258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538" y="3411538"/>
            <a:ext cx="479618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c:1</a:t>
            </a:r>
          </a:p>
        </p:txBody>
      </p:sp>
      <p:sp>
        <p:nvSpPr>
          <p:cNvPr id="52242" name="Text Box 28">
            <a:extLst>
              <a:ext uri="{FF2B5EF4-FFF2-40B4-BE49-F238E27FC236}">
                <a16:creationId xmlns:a16="http://schemas.microsoft.com/office/drawing/2014/main" id="{6CD28F16-2FEB-512B-B668-C9D19A319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88" y="4017963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sp>
        <p:nvSpPr>
          <p:cNvPr id="52243" name="Text Box 29">
            <a:extLst>
              <a:ext uri="{FF2B5EF4-FFF2-40B4-BE49-F238E27FC236}">
                <a16:creationId xmlns:a16="http://schemas.microsoft.com/office/drawing/2014/main" id="{AF5729FC-1509-95E9-1838-0C3483394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88" y="4624388"/>
            <a:ext cx="492443" cy="36933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latin typeface="Times New Roman" pitchFamily="18" charset="0"/>
                <a:cs typeface="Times New Roman" pitchFamily="18" charset="0"/>
              </a:rPr>
              <a:t>p:1</a:t>
            </a:r>
          </a:p>
        </p:txBody>
      </p:sp>
      <p:cxnSp>
        <p:nvCxnSpPr>
          <p:cNvPr id="52244" name="AutoShape 30">
            <a:extLst>
              <a:ext uri="{FF2B5EF4-FFF2-40B4-BE49-F238E27FC236}">
                <a16:creationId xmlns:a16="http://schemas.microsoft.com/office/drawing/2014/main" id="{2966B396-5EF3-B998-4EE7-5D57A5763ABF}"/>
              </a:ext>
            </a:extLst>
          </p:cNvPr>
          <p:cNvCxnSpPr>
            <a:cxnSpLocks noChangeShapeType="1"/>
            <a:stCxn id="52241" idx="2"/>
            <a:endCxn id="52242" idx="0"/>
          </p:cNvCxnSpPr>
          <p:nvPr/>
        </p:nvCxnSpPr>
        <p:spPr bwMode="auto">
          <a:xfrm rot="16200000" flipH="1">
            <a:off x="5818832" y="3899384"/>
            <a:ext cx="237093" cy="63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cxnSp>
        <p:nvCxnSpPr>
          <p:cNvPr id="52245" name="AutoShape 31">
            <a:extLst>
              <a:ext uri="{FF2B5EF4-FFF2-40B4-BE49-F238E27FC236}">
                <a16:creationId xmlns:a16="http://schemas.microsoft.com/office/drawing/2014/main" id="{28B83072-BEDE-CA7E-6B04-A234C27AF561}"/>
              </a:ext>
            </a:extLst>
          </p:cNvPr>
          <p:cNvCxnSpPr>
            <a:cxnSpLocks noChangeShapeType="1"/>
            <a:stCxn id="52242" idx="2"/>
            <a:endCxn id="52243" idx="0"/>
          </p:cNvCxnSpPr>
          <p:nvPr/>
        </p:nvCxnSpPr>
        <p:spPr bwMode="auto">
          <a:xfrm rot="5400000">
            <a:off x="5818864" y="4505841"/>
            <a:ext cx="237093" cy="15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cxnSp>
        <p:nvCxnSpPr>
          <p:cNvPr id="52246" name="AutoShape 32">
            <a:extLst>
              <a:ext uri="{FF2B5EF4-FFF2-40B4-BE49-F238E27FC236}">
                <a16:creationId xmlns:a16="http://schemas.microsoft.com/office/drawing/2014/main" id="{487A9F17-2EBA-73F6-A912-3F25C3E8A25A}"/>
              </a:ext>
            </a:extLst>
          </p:cNvPr>
          <p:cNvCxnSpPr>
            <a:cxnSpLocks noChangeShapeType="1"/>
            <a:endCxn id="52241" idx="0"/>
          </p:cNvCxnSpPr>
          <p:nvPr/>
        </p:nvCxnSpPr>
        <p:spPr bwMode="auto">
          <a:xfrm>
            <a:off x="5461000" y="3122613"/>
            <a:ext cx="476347" cy="2889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</p:cxnSp>
      <p:sp>
        <p:nvSpPr>
          <p:cNvPr id="52247" name="Line 33">
            <a:extLst>
              <a:ext uri="{FF2B5EF4-FFF2-40B4-BE49-F238E27FC236}">
                <a16:creationId xmlns:a16="http://schemas.microsoft.com/office/drawing/2014/main" id="{07DEB768-BBDE-5ED1-1975-BDF0281ED0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27432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48" name="Line 34">
            <a:extLst>
              <a:ext uri="{FF2B5EF4-FFF2-40B4-BE49-F238E27FC236}">
                <a16:creationId xmlns:a16="http://schemas.microsoft.com/office/drawing/2014/main" id="{3B6B7825-016E-BBF2-4F0D-D743A207E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1905000"/>
            <a:ext cx="2506663" cy="0"/>
          </a:xfrm>
          <a:prstGeom prst="line">
            <a:avLst/>
          </a:prstGeom>
          <a:noFill/>
          <a:ln w="9525">
            <a:solidFill>
              <a:srgbClr val="F8400E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51F9300A-452A-D11C-E6AC-DE53DBF3A42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341688"/>
            <a:ext cx="4495800" cy="2765425"/>
            <a:chOff x="768" y="2105"/>
            <a:chExt cx="2832" cy="1742"/>
          </a:xfrm>
        </p:grpSpPr>
        <p:grpSp>
          <p:nvGrpSpPr>
            <p:cNvPr id="4" name="Group 36">
              <a:extLst>
                <a:ext uri="{FF2B5EF4-FFF2-40B4-BE49-F238E27FC236}">
                  <a16:creationId xmlns:a16="http://schemas.microsoft.com/office/drawing/2014/main" id="{B5F9DAAF-97F6-BA23-D7FB-55E3BB9C9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7" y="2304"/>
              <a:ext cx="1353" cy="1543"/>
              <a:chOff x="2247" y="2304"/>
              <a:chExt cx="1353" cy="1543"/>
            </a:xfrm>
          </p:grpSpPr>
          <p:sp>
            <p:nvSpPr>
              <p:cNvPr id="52252" name="Freeform 37">
                <a:extLst>
                  <a:ext uri="{FF2B5EF4-FFF2-40B4-BE49-F238E27FC236}">
                    <a16:creationId xmlns:a16="http://schemas.microsoft.com/office/drawing/2014/main" id="{AFD0B530-3746-6F16-1809-3FDF3FAF8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7" y="2304"/>
                <a:ext cx="672" cy="239"/>
              </a:xfrm>
              <a:custGeom>
                <a:avLst/>
                <a:gdLst>
                  <a:gd name="T0" fmla="*/ 0 w 672"/>
                  <a:gd name="T1" fmla="*/ 240 h 240"/>
                  <a:gd name="T2" fmla="*/ 288 w 672"/>
                  <a:gd name="T3" fmla="*/ 192 h 240"/>
                  <a:gd name="T4" fmla="*/ 432 w 672"/>
                  <a:gd name="T5" fmla="*/ 48 h 240"/>
                  <a:gd name="T6" fmla="*/ 672 w 672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240"/>
                  <a:gd name="T14" fmla="*/ 672 w 672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240">
                    <a:moveTo>
                      <a:pt x="0" y="240"/>
                    </a:moveTo>
                    <a:cubicBezTo>
                      <a:pt x="108" y="232"/>
                      <a:pt x="216" y="224"/>
                      <a:pt x="288" y="192"/>
                    </a:cubicBezTo>
                    <a:cubicBezTo>
                      <a:pt x="360" y="160"/>
                      <a:pt x="368" y="80"/>
                      <a:pt x="432" y="48"/>
                    </a:cubicBezTo>
                    <a:cubicBezTo>
                      <a:pt x="496" y="16"/>
                      <a:pt x="584" y="8"/>
                      <a:pt x="672" y="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3" name="Freeform 38">
                <a:extLst>
                  <a:ext uri="{FF2B5EF4-FFF2-40B4-BE49-F238E27FC236}">
                    <a16:creationId xmlns:a16="http://schemas.microsoft.com/office/drawing/2014/main" id="{33EFADF0-AE33-33D8-F622-E77C58BC2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7" y="2687"/>
                <a:ext cx="432" cy="1"/>
              </a:xfrm>
              <a:custGeom>
                <a:avLst/>
                <a:gdLst>
                  <a:gd name="T0" fmla="*/ 0 w 432"/>
                  <a:gd name="T1" fmla="*/ 0 h 1"/>
                  <a:gd name="T2" fmla="*/ 432 w 432"/>
                  <a:gd name="T3" fmla="*/ 0 h 1"/>
                  <a:gd name="T4" fmla="*/ 0 60000 65536"/>
                  <a:gd name="T5" fmla="*/ 0 60000 65536"/>
                  <a:gd name="T6" fmla="*/ 0 w 432"/>
                  <a:gd name="T7" fmla="*/ 0 h 1"/>
                  <a:gd name="T8" fmla="*/ 432 w 43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1">
                    <a:moveTo>
                      <a:pt x="0" y="0"/>
                    </a:moveTo>
                    <a:cubicBezTo>
                      <a:pt x="0" y="0"/>
                      <a:pt x="216" y="0"/>
                      <a:pt x="432" y="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4" name="Freeform 39">
                <a:extLst>
                  <a:ext uri="{FF2B5EF4-FFF2-40B4-BE49-F238E27FC236}">
                    <a16:creationId xmlns:a16="http://schemas.microsoft.com/office/drawing/2014/main" id="{2C3B6B6D-8A91-D7EC-CF29-3375CB0C0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" y="2304"/>
                <a:ext cx="618" cy="383"/>
              </a:xfrm>
              <a:custGeom>
                <a:avLst/>
                <a:gdLst>
                  <a:gd name="T0" fmla="*/ 0 w 480"/>
                  <a:gd name="T1" fmla="*/ 384 h 384"/>
                  <a:gd name="T2" fmla="*/ 48 w 480"/>
                  <a:gd name="T3" fmla="*/ 336 h 384"/>
                  <a:gd name="T4" fmla="*/ 240 w 480"/>
                  <a:gd name="T5" fmla="*/ 96 h 384"/>
                  <a:gd name="T6" fmla="*/ 480 w 480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384"/>
                  <a:gd name="T14" fmla="*/ 480 w 48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384">
                    <a:moveTo>
                      <a:pt x="0" y="384"/>
                    </a:moveTo>
                    <a:cubicBezTo>
                      <a:pt x="4" y="384"/>
                      <a:pt x="8" y="384"/>
                      <a:pt x="48" y="336"/>
                    </a:cubicBezTo>
                    <a:cubicBezTo>
                      <a:pt x="88" y="288"/>
                      <a:pt x="168" y="152"/>
                      <a:pt x="240" y="96"/>
                    </a:cubicBezTo>
                    <a:cubicBezTo>
                      <a:pt x="312" y="40"/>
                      <a:pt x="396" y="20"/>
                      <a:pt x="480" y="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5" name="Freeform 40">
                <a:extLst>
                  <a:ext uri="{FF2B5EF4-FFF2-40B4-BE49-F238E27FC236}">
                    <a16:creationId xmlns:a16="http://schemas.microsoft.com/office/drawing/2014/main" id="{29713E7B-EB99-5196-15A0-E4A458F6F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7" y="2889"/>
                <a:ext cx="432" cy="192"/>
              </a:xfrm>
              <a:custGeom>
                <a:avLst/>
                <a:gdLst>
                  <a:gd name="T0" fmla="*/ 0 w 432"/>
                  <a:gd name="T1" fmla="*/ 0 h 192"/>
                  <a:gd name="T2" fmla="*/ 144 w 432"/>
                  <a:gd name="T3" fmla="*/ 48 h 192"/>
                  <a:gd name="T4" fmla="*/ 288 w 432"/>
                  <a:gd name="T5" fmla="*/ 144 h 192"/>
                  <a:gd name="T6" fmla="*/ 432 w 432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92"/>
                  <a:gd name="T14" fmla="*/ 432 w 43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92">
                    <a:moveTo>
                      <a:pt x="0" y="0"/>
                    </a:moveTo>
                    <a:cubicBezTo>
                      <a:pt x="48" y="12"/>
                      <a:pt x="96" y="24"/>
                      <a:pt x="144" y="48"/>
                    </a:cubicBezTo>
                    <a:cubicBezTo>
                      <a:pt x="192" y="72"/>
                      <a:pt x="240" y="120"/>
                      <a:pt x="288" y="144"/>
                    </a:cubicBezTo>
                    <a:cubicBezTo>
                      <a:pt x="336" y="168"/>
                      <a:pt x="384" y="180"/>
                      <a:pt x="432" y="192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6" name="Freeform 41">
                <a:extLst>
                  <a:ext uri="{FF2B5EF4-FFF2-40B4-BE49-F238E27FC236}">
                    <a16:creationId xmlns:a16="http://schemas.microsoft.com/office/drawing/2014/main" id="{0255A9EF-1BD4-7061-7ABE-9B9D9EB17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3033"/>
                <a:ext cx="720" cy="383"/>
              </a:xfrm>
              <a:custGeom>
                <a:avLst/>
                <a:gdLst>
                  <a:gd name="T0" fmla="*/ 0 w 720"/>
                  <a:gd name="T1" fmla="*/ 0 h 384"/>
                  <a:gd name="T2" fmla="*/ 240 w 720"/>
                  <a:gd name="T3" fmla="*/ 48 h 384"/>
                  <a:gd name="T4" fmla="*/ 528 w 720"/>
                  <a:gd name="T5" fmla="*/ 288 h 384"/>
                  <a:gd name="T6" fmla="*/ 720 w 720"/>
                  <a:gd name="T7" fmla="*/ 384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0"/>
                  <a:gd name="T13" fmla="*/ 0 h 384"/>
                  <a:gd name="T14" fmla="*/ 720 w 72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0" h="384">
                    <a:moveTo>
                      <a:pt x="0" y="0"/>
                    </a:moveTo>
                    <a:cubicBezTo>
                      <a:pt x="76" y="0"/>
                      <a:pt x="152" y="0"/>
                      <a:pt x="240" y="48"/>
                    </a:cubicBezTo>
                    <a:cubicBezTo>
                      <a:pt x="328" y="96"/>
                      <a:pt x="448" y="232"/>
                      <a:pt x="528" y="288"/>
                    </a:cubicBezTo>
                    <a:cubicBezTo>
                      <a:pt x="608" y="344"/>
                      <a:pt x="664" y="364"/>
                      <a:pt x="720" y="384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7" name="Freeform 42">
                <a:extLst>
                  <a:ext uri="{FF2B5EF4-FFF2-40B4-BE49-F238E27FC236}">
                    <a16:creationId xmlns:a16="http://schemas.microsoft.com/office/drawing/2014/main" id="{5AAE00D9-3273-178B-AC71-8196813A3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2794"/>
                <a:ext cx="56" cy="670"/>
              </a:xfrm>
              <a:custGeom>
                <a:avLst/>
                <a:gdLst>
                  <a:gd name="T0" fmla="*/ 0 w 56"/>
                  <a:gd name="T1" fmla="*/ 672 h 672"/>
                  <a:gd name="T2" fmla="*/ 48 w 56"/>
                  <a:gd name="T3" fmla="*/ 432 h 672"/>
                  <a:gd name="T4" fmla="*/ 48 w 56"/>
                  <a:gd name="T5" fmla="*/ 0 h 672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72"/>
                  <a:gd name="T11" fmla="*/ 56 w 56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72">
                    <a:moveTo>
                      <a:pt x="0" y="672"/>
                    </a:moveTo>
                    <a:cubicBezTo>
                      <a:pt x="20" y="608"/>
                      <a:pt x="40" y="544"/>
                      <a:pt x="48" y="432"/>
                    </a:cubicBezTo>
                    <a:cubicBezTo>
                      <a:pt x="56" y="320"/>
                      <a:pt x="52" y="160"/>
                      <a:pt x="48" y="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8" name="Line 43">
                <a:extLst>
                  <a:ext uri="{FF2B5EF4-FFF2-40B4-BE49-F238E27FC236}">
                    <a16:creationId xmlns:a16="http://schemas.microsoft.com/office/drawing/2014/main" id="{A670D637-5A55-DB31-64E4-FD1670A52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1" y="2687"/>
                <a:ext cx="234" cy="0"/>
              </a:xfrm>
              <a:prstGeom prst="line">
                <a:avLst/>
              </a:pr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59" name="Freeform 44">
                <a:extLst>
                  <a:ext uri="{FF2B5EF4-FFF2-40B4-BE49-F238E27FC236}">
                    <a16:creationId xmlns:a16="http://schemas.microsoft.com/office/drawing/2014/main" id="{EFA69A88-7808-5FB3-1F82-AF1E74458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3225"/>
                <a:ext cx="288" cy="239"/>
              </a:xfrm>
              <a:custGeom>
                <a:avLst/>
                <a:gdLst>
                  <a:gd name="T0" fmla="*/ 0 w 288"/>
                  <a:gd name="T1" fmla="*/ 0 h 240"/>
                  <a:gd name="T2" fmla="*/ 144 w 288"/>
                  <a:gd name="T3" fmla="*/ 48 h 240"/>
                  <a:gd name="T4" fmla="*/ 192 w 288"/>
                  <a:gd name="T5" fmla="*/ 192 h 240"/>
                  <a:gd name="T6" fmla="*/ 288 w 288"/>
                  <a:gd name="T7" fmla="*/ 24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240"/>
                  <a:gd name="T14" fmla="*/ 288 w 288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240">
                    <a:moveTo>
                      <a:pt x="0" y="0"/>
                    </a:moveTo>
                    <a:cubicBezTo>
                      <a:pt x="56" y="8"/>
                      <a:pt x="112" y="16"/>
                      <a:pt x="144" y="48"/>
                    </a:cubicBezTo>
                    <a:cubicBezTo>
                      <a:pt x="176" y="80"/>
                      <a:pt x="168" y="160"/>
                      <a:pt x="192" y="192"/>
                    </a:cubicBezTo>
                    <a:cubicBezTo>
                      <a:pt x="216" y="224"/>
                      <a:pt x="252" y="232"/>
                      <a:pt x="288" y="24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60" name="Freeform 45">
                <a:extLst>
                  <a:ext uri="{FF2B5EF4-FFF2-40B4-BE49-F238E27FC236}">
                    <a16:creationId xmlns:a16="http://schemas.microsoft.com/office/drawing/2014/main" id="{AEDC951D-3C9E-7487-AF99-1DE74119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2" y="3464"/>
                <a:ext cx="96" cy="383"/>
              </a:xfrm>
              <a:custGeom>
                <a:avLst/>
                <a:gdLst>
                  <a:gd name="T0" fmla="*/ 0 w 96"/>
                  <a:gd name="T1" fmla="*/ 0 h 384"/>
                  <a:gd name="T2" fmla="*/ 48 w 96"/>
                  <a:gd name="T3" fmla="*/ 96 h 384"/>
                  <a:gd name="T4" fmla="*/ 48 w 96"/>
                  <a:gd name="T5" fmla="*/ 288 h 384"/>
                  <a:gd name="T6" fmla="*/ 96 w 96"/>
                  <a:gd name="T7" fmla="*/ 384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384"/>
                  <a:gd name="T14" fmla="*/ 96 w 96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384">
                    <a:moveTo>
                      <a:pt x="0" y="0"/>
                    </a:moveTo>
                    <a:cubicBezTo>
                      <a:pt x="20" y="24"/>
                      <a:pt x="40" y="48"/>
                      <a:pt x="48" y="96"/>
                    </a:cubicBezTo>
                    <a:cubicBezTo>
                      <a:pt x="56" y="144"/>
                      <a:pt x="40" y="240"/>
                      <a:pt x="48" y="288"/>
                    </a:cubicBezTo>
                    <a:cubicBezTo>
                      <a:pt x="56" y="336"/>
                      <a:pt x="76" y="360"/>
                      <a:pt x="96" y="384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61" name="Freeform 46">
                <a:extLst>
                  <a:ext uri="{FF2B5EF4-FFF2-40B4-BE49-F238E27FC236}">
                    <a16:creationId xmlns:a16="http://schemas.microsoft.com/office/drawing/2014/main" id="{334D8A5E-C18C-629B-6ADF-2154074D5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3416"/>
                <a:ext cx="288" cy="431"/>
              </a:xfrm>
              <a:custGeom>
                <a:avLst/>
                <a:gdLst>
                  <a:gd name="T0" fmla="*/ 0 w 288"/>
                  <a:gd name="T1" fmla="*/ 0 h 432"/>
                  <a:gd name="T2" fmla="*/ 96 w 288"/>
                  <a:gd name="T3" fmla="*/ 144 h 432"/>
                  <a:gd name="T4" fmla="*/ 144 w 288"/>
                  <a:gd name="T5" fmla="*/ 336 h 432"/>
                  <a:gd name="T6" fmla="*/ 288 w 288"/>
                  <a:gd name="T7" fmla="*/ 432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432"/>
                  <a:gd name="T14" fmla="*/ 288 w 288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432">
                    <a:moveTo>
                      <a:pt x="0" y="0"/>
                    </a:moveTo>
                    <a:cubicBezTo>
                      <a:pt x="36" y="44"/>
                      <a:pt x="72" y="88"/>
                      <a:pt x="96" y="144"/>
                    </a:cubicBezTo>
                    <a:cubicBezTo>
                      <a:pt x="120" y="200"/>
                      <a:pt x="112" y="288"/>
                      <a:pt x="144" y="336"/>
                    </a:cubicBezTo>
                    <a:cubicBezTo>
                      <a:pt x="176" y="384"/>
                      <a:pt x="232" y="408"/>
                      <a:pt x="288" y="432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62" name="Freeform 47">
                <a:extLst>
                  <a:ext uri="{FF2B5EF4-FFF2-40B4-BE49-F238E27FC236}">
                    <a16:creationId xmlns:a16="http://schemas.microsoft.com/office/drawing/2014/main" id="{6E03BA26-FFC0-F1B4-9C7C-A113D31A3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2" y="3177"/>
                <a:ext cx="768" cy="670"/>
              </a:xfrm>
              <a:custGeom>
                <a:avLst/>
                <a:gdLst>
                  <a:gd name="T0" fmla="*/ 0 w 768"/>
                  <a:gd name="T1" fmla="*/ 672 h 672"/>
                  <a:gd name="T2" fmla="*/ 96 w 768"/>
                  <a:gd name="T3" fmla="*/ 528 h 672"/>
                  <a:gd name="T4" fmla="*/ 528 w 768"/>
                  <a:gd name="T5" fmla="*/ 384 h 672"/>
                  <a:gd name="T6" fmla="*/ 768 w 768"/>
                  <a:gd name="T7" fmla="*/ 0 h 6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68"/>
                  <a:gd name="T13" fmla="*/ 0 h 672"/>
                  <a:gd name="T14" fmla="*/ 768 w 768"/>
                  <a:gd name="T15" fmla="*/ 672 h 6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68" h="672">
                    <a:moveTo>
                      <a:pt x="0" y="672"/>
                    </a:moveTo>
                    <a:cubicBezTo>
                      <a:pt x="4" y="624"/>
                      <a:pt x="8" y="576"/>
                      <a:pt x="96" y="528"/>
                    </a:cubicBezTo>
                    <a:cubicBezTo>
                      <a:pt x="184" y="480"/>
                      <a:pt x="416" y="472"/>
                      <a:pt x="528" y="384"/>
                    </a:cubicBezTo>
                    <a:cubicBezTo>
                      <a:pt x="640" y="296"/>
                      <a:pt x="704" y="148"/>
                      <a:pt x="768" y="0"/>
                    </a:cubicBezTo>
                  </a:path>
                </a:pathLst>
              </a:custGeom>
              <a:noFill/>
              <a:ln w="12700">
                <a:solidFill>
                  <a:srgbClr val="563610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2251" name="Text Box 48">
              <a:extLst>
                <a:ext uri="{FF2B5EF4-FFF2-40B4-BE49-F238E27FC236}">
                  <a16:creationId xmlns:a16="http://schemas.microsoft.com/office/drawing/2014/main" id="{A0DF0EE8-E928-3DDC-2F05-3FC142C5D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105"/>
              <a:ext cx="1461" cy="131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Header Table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b="1" i="1" u="sng" dirty="0">
                  <a:latin typeface="Times New Roman" pitchFamily="18" charset="0"/>
                  <a:cs typeface="Times New Roman" pitchFamily="18" charset="0"/>
                </a:rPr>
                <a:t>Item  frequency  head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 f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p	3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972788-4820-F7A5-187C-0165AC6D6157}"/>
                  </a:ext>
                </a:extLst>
              </p14:cNvPr>
              <p14:cNvContentPartPr/>
              <p14:nvPr/>
            </p14:nvContentPartPr>
            <p14:xfrm>
              <a:off x="1666253" y="6050000"/>
              <a:ext cx="360" cy="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F476FD-5F95-C48E-6011-D274DDB7BC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0133" y="6043880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38686E-D202-1EE2-06EA-68C0D3A09D0D}"/>
                  </a:ext>
                </a:extLst>
              </p14:cNvPr>
              <p14:cNvContentPartPr/>
              <p14:nvPr/>
            </p14:nvContentPartPr>
            <p14:xfrm>
              <a:off x="-446587" y="312500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8B7335-B6D6-561F-C5B1-6EA7A0E095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2707" y="31188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0C30A1-03A3-08A8-8923-F72CF4C802CF}"/>
              </a:ext>
            </a:extLst>
          </p:cNvPr>
          <p:cNvSpPr txBox="1"/>
          <p:nvPr/>
        </p:nvSpPr>
        <p:spPr>
          <a:xfrm>
            <a:off x="6970713" y="4510395"/>
            <a:ext cx="1728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Pointers are maintained between nodes containing the same item (dotted line)</a:t>
            </a:r>
          </a:p>
        </p:txBody>
      </p:sp>
    </p:spTree>
    <p:extLst>
      <p:ext uri="{BB962C8B-B14F-4D97-AF65-F5344CB8AC3E}">
        <p14:creationId xmlns:p14="http://schemas.microsoft.com/office/powerpoint/2010/main" val="3797814794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02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Benefits of the FP-tree Structure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610600" cy="57912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Completeness: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never breaks a long pattern of any transaction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preserves complete information for frequent pattern mining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Compactness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 irrelevant information—infrequent items are gone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frequency descending ordering: more frequent items are more likely to be shared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never be larger than the original database.</a:t>
            </a:r>
          </a:p>
        </p:txBody>
      </p: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Mining Frequent Patterns Using FP-tree</a:t>
            </a:r>
            <a:endParaRPr lang="en-US" sz="2800" b="1" u="sng" dirty="0">
              <a:solidFill>
                <a:srgbClr val="5FA1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521700" cy="5588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FP-tree is mined as follows: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from each frequent length-1 pattern (as an initial suffix pattern)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construct its conditional pattern base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 “sub-database,” which consists of the set of prefix paths in the FP-tree co-occurring with the suffix pattern)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then construct its (conditional) FP-tree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perform mining recursively on such a tree.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pattern growth is achieved by the concatenation of the suffix pattern with the frequent patterns generated from a conditional FP-tree.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Mining Frequent Patterns Using the FP-tree (cont’d)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839200" cy="19812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Start with last item in order (i.e., p).</a:t>
            </a:r>
          </a:p>
          <a:p>
            <a:pPr eaLnBrk="1" hangingPunct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Follow node pointers and traverse only the paths containing p.</a:t>
            </a:r>
          </a:p>
          <a:p>
            <a:pPr eaLnBrk="1" hangingPunct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Accumulate all of transformed prefix paths of that item to form a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conditional pattern base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1801" y="2999342"/>
            <a:ext cx="2736850" cy="2535339"/>
            <a:chOff x="1388" y="2325"/>
            <a:chExt cx="1724" cy="1757"/>
          </a:xfrm>
        </p:grpSpPr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1622" y="2325"/>
              <a:ext cx="1490" cy="1757"/>
              <a:chOff x="3966" y="453"/>
              <a:chExt cx="1490" cy="1757"/>
            </a:xfrm>
          </p:grpSpPr>
          <p:sp>
            <p:nvSpPr>
              <p:cNvPr id="55306" name="Freeform 8"/>
              <p:cNvSpPr>
                <a:spLocks/>
              </p:cNvSpPr>
              <p:nvPr/>
            </p:nvSpPr>
            <p:spPr bwMode="auto">
              <a:xfrm>
                <a:off x="3966" y="1699"/>
                <a:ext cx="285" cy="382"/>
              </a:xfrm>
              <a:custGeom>
                <a:avLst/>
                <a:gdLst>
                  <a:gd name="T0" fmla="*/ 0 w 288"/>
                  <a:gd name="T1" fmla="*/ 0 h 432"/>
                  <a:gd name="T2" fmla="*/ 96 w 288"/>
                  <a:gd name="T3" fmla="*/ 144 h 432"/>
                  <a:gd name="T4" fmla="*/ 144 w 288"/>
                  <a:gd name="T5" fmla="*/ 336 h 432"/>
                  <a:gd name="T6" fmla="*/ 288 w 288"/>
                  <a:gd name="T7" fmla="*/ 432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432"/>
                  <a:gd name="T14" fmla="*/ 288 w 288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432">
                    <a:moveTo>
                      <a:pt x="0" y="0"/>
                    </a:moveTo>
                    <a:cubicBezTo>
                      <a:pt x="36" y="44"/>
                      <a:pt x="72" y="88"/>
                      <a:pt x="96" y="144"/>
                    </a:cubicBezTo>
                    <a:cubicBezTo>
                      <a:pt x="120" y="200"/>
                      <a:pt x="112" y="288"/>
                      <a:pt x="144" y="336"/>
                    </a:cubicBezTo>
                    <a:cubicBezTo>
                      <a:pt x="176" y="384"/>
                      <a:pt x="232" y="408"/>
                      <a:pt x="288" y="432"/>
                    </a:cubicBezTo>
                  </a:path>
                </a:pathLst>
              </a:custGeom>
              <a:noFill/>
              <a:ln w="12700">
                <a:solidFill>
                  <a:srgbClr val="F8400E"/>
                </a:solidFill>
                <a:prstDash val="lgDash"/>
                <a:round/>
                <a:headEnd type="none" w="sm" len="sm"/>
                <a:tailEnd type="arrow" w="med" len="med"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4206" y="453"/>
                <a:ext cx="1250" cy="1757"/>
                <a:chOff x="4206" y="453"/>
                <a:chExt cx="1250" cy="1757"/>
              </a:xfrm>
            </p:grpSpPr>
            <p:grpSp>
              <p:nvGrpSpPr>
                <p:cNvPr id="6" name="Group 10"/>
                <p:cNvGrpSpPr>
                  <a:grpSpLocks/>
                </p:cNvGrpSpPr>
                <p:nvPr/>
              </p:nvGrpSpPr>
              <p:grpSpPr bwMode="auto">
                <a:xfrm>
                  <a:off x="4206" y="453"/>
                  <a:ext cx="1250" cy="1757"/>
                  <a:chOff x="4206" y="453"/>
                  <a:chExt cx="1250" cy="1757"/>
                </a:xfrm>
              </p:grpSpPr>
              <p:grpSp>
                <p:nvGrpSpPr>
                  <p:cNvPr id="7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4206" y="453"/>
                    <a:ext cx="798" cy="1757"/>
                    <a:chOff x="1952" y="2418"/>
                    <a:chExt cx="798" cy="1757"/>
                  </a:xfrm>
                </p:grpSpPr>
                <p:sp>
                  <p:nvSpPr>
                    <p:cNvPr id="55317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26" y="2552"/>
                      <a:ext cx="278" cy="23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i="1">
                          <a:solidFill>
                            <a:srgbClr val="F8400E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f:4</a:t>
                      </a:r>
                    </a:p>
                  </p:txBody>
                </p:sp>
                <p:cxnSp>
                  <p:nvCxnSpPr>
                    <p:cNvPr id="55318" name="AutoShape 13"/>
                    <p:cNvCxnSpPr>
                      <a:cxnSpLocks noChangeShapeType="1"/>
                      <a:endCxn id="55317" idx="0"/>
                    </p:cNvCxnSpPr>
                    <p:nvPr/>
                  </p:nvCxnSpPr>
                  <p:spPr bwMode="auto">
                    <a:xfrm rot="10800000" flipV="1">
                      <a:off x="2465" y="2418"/>
                      <a:ext cx="285" cy="134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55319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41" y="2899"/>
                      <a:ext cx="302" cy="23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i="1">
                          <a:solidFill>
                            <a:srgbClr val="F8400E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c:3</a:t>
                      </a:r>
                    </a:p>
                  </p:txBody>
                </p:sp>
                <p:cxnSp>
                  <p:nvCxnSpPr>
                    <p:cNvPr id="55320" name="AutoShape 15"/>
                    <p:cNvCxnSpPr>
                      <a:cxnSpLocks noChangeShapeType="1"/>
                      <a:stCxn id="55317" idx="2"/>
                      <a:endCxn id="55319" idx="0"/>
                    </p:cNvCxnSpPr>
                    <p:nvPr/>
                  </p:nvCxnSpPr>
                  <p:spPr bwMode="auto">
                    <a:xfrm rot="5400000">
                      <a:off x="2321" y="2755"/>
                      <a:ext cx="114" cy="173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  <p:sp>
                  <p:nvSpPr>
                    <p:cNvPr id="55321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36" y="3246"/>
                      <a:ext cx="310" cy="23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i="1">
                          <a:solidFill>
                            <a:srgbClr val="F8400E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a:3</a:t>
                      </a:r>
                    </a:p>
                  </p:txBody>
                </p:sp>
                <p:sp>
                  <p:nvSpPr>
                    <p:cNvPr id="55322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52" y="3595"/>
                      <a:ext cx="343" cy="23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i="1">
                          <a:solidFill>
                            <a:srgbClr val="F8400E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m:2</a:t>
                      </a:r>
                    </a:p>
                  </p:txBody>
                </p:sp>
                <p:sp>
                  <p:nvSpPr>
                    <p:cNvPr id="55323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70" y="3942"/>
                      <a:ext cx="310" cy="233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i="1">
                          <a:solidFill>
                            <a:srgbClr val="F8400E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p:2</a:t>
                      </a:r>
                    </a:p>
                  </p:txBody>
                </p:sp>
                <p:cxnSp>
                  <p:nvCxnSpPr>
                    <p:cNvPr id="55324" name="AutoShape 19"/>
                    <p:cNvCxnSpPr>
                      <a:cxnSpLocks noChangeShapeType="1"/>
                      <a:stCxn id="55319" idx="2"/>
                      <a:endCxn id="55321" idx="0"/>
                    </p:cNvCxnSpPr>
                    <p:nvPr/>
                  </p:nvCxnSpPr>
                  <p:spPr bwMode="auto">
                    <a:xfrm rot="5400000">
                      <a:off x="2234" y="3188"/>
                      <a:ext cx="114" cy="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55325" name="AutoShape 20"/>
                    <p:cNvCxnSpPr>
                      <a:cxnSpLocks noChangeShapeType="1"/>
                      <a:stCxn id="55321" idx="2"/>
                      <a:endCxn id="55322" idx="0"/>
                    </p:cNvCxnSpPr>
                    <p:nvPr/>
                  </p:nvCxnSpPr>
                  <p:spPr bwMode="auto">
                    <a:xfrm rot="5400000">
                      <a:off x="2149" y="3453"/>
                      <a:ext cx="116" cy="168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55326" name="AutoShape 21"/>
                    <p:cNvCxnSpPr>
                      <a:cxnSpLocks noChangeShapeType="1"/>
                      <a:stCxn id="55322" idx="2"/>
                      <a:endCxn id="55323" idx="0"/>
                    </p:cNvCxnSpPr>
                    <p:nvPr/>
                  </p:nvCxnSpPr>
                  <p:spPr bwMode="auto">
                    <a:xfrm rot="16200000" flipH="1">
                      <a:off x="2067" y="3884"/>
                      <a:ext cx="114" cy="2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F8400E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55311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50" y="587"/>
                    <a:ext cx="302" cy="233"/>
                  </a:xfrm>
                  <a:prstGeom prst="rect">
                    <a:avLst/>
                  </a:prstGeom>
                  <a:noFill/>
                  <a:ln w="12700">
                    <a:solidFill>
                      <a:srgbClr val="F8400E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0"/>
                      </a:spcBef>
                    </a:pPr>
                    <a:r>
                      <a:rPr lang="en-US" i="1" dirty="0">
                        <a:solidFill>
                          <a:srgbClr val="F8400E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c:1</a:t>
                    </a:r>
                  </a:p>
                </p:txBody>
              </p:sp>
              <p:sp>
                <p:nvSpPr>
                  <p:cNvPr id="55312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46" y="934"/>
                    <a:ext cx="310" cy="233"/>
                  </a:xfrm>
                  <a:prstGeom prst="rect">
                    <a:avLst/>
                  </a:prstGeom>
                  <a:noFill/>
                  <a:ln w="12700">
                    <a:solidFill>
                      <a:srgbClr val="F8400E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0"/>
                      </a:spcBef>
                    </a:pPr>
                    <a:r>
                      <a:rPr lang="en-US" i="1">
                        <a:solidFill>
                          <a:srgbClr val="F8400E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b:1</a:t>
                    </a:r>
                  </a:p>
                </p:txBody>
              </p:sp>
              <p:sp>
                <p:nvSpPr>
                  <p:cNvPr id="55313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46" y="1281"/>
                    <a:ext cx="310" cy="233"/>
                  </a:xfrm>
                  <a:prstGeom prst="rect">
                    <a:avLst/>
                  </a:prstGeom>
                  <a:noFill/>
                  <a:ln w="12700">
                    <a:solidFill>
                      <a:srgbClr val="F8400E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0"/>
                      </a:spcBef>
                    </a:pPr>
                    <a:r>
                      <a:rPr lang="en-US" i="1">
                        <a:solidFill>
                          <a:srgbClr val="F8400E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p:1</a:t>
                    </a:r>
                  </a:p>
                </p:txBody>
              </p:sp>
              <p:cxnSp>
                <p:nvCxnSpPr>
                  <p:cNvPr id="55314" name="AutoShape 25"/>
                  <p:cNvCxnSpPr>
                    <a:cxnSpLocks noChangeShapeType="1"/>
                    <a:stCxn id="55311" idx="2"/>
                    <a:endCxn id="55312" idx="0"/>
                  </p:cNvCxnSpPr>
                  <p:nvPr/>
                </p:nvCxnSpPr>
                <p:spPr bwMode="auto">
                  <a:xfrm rot="16200000" flipH="1">
                    <a:off x="5244" y="877"/>
                    <a:ext cx="114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8400E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5315" name="AutoShape 26"/>
                  <p:cNvCxnSpPr>
                    <a:cxnSpLocks noChangeShapeType="1"/>
                    <a:stCxn id="55312" idx="2"/>
                    <a:endCxn id="55313" idx="0"/>
                  </p:cNvCxnSpPr>
                  <p:nvPr/>
                </p:nvCxnSpPr>
                <p:spPr bwMode="auto">
                  <a:xfrm rot="5400000">
                    <a:off x="5244" y="1224"/>
                    <a:ext cx="114" cy="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8400E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5316" name="AutoShape 27"/>
                  <p:cNvCxnSpPr>
                    <a:cxnSpLocks noChangeShapeType="1"/>
                    <a:endCxn id="55311" idx="0"/>
                  </p:cNvCxnSpPr>
                  <p:nvPr/>
                </p:nvCxnSpPr>
                <p:spPr bwMode="auto">
                  <a:xfrm>
                    <a:off x="5004" y="453"/>
                    <a:ext cx="297" cy="134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8400E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5309" name="Freeform 28"/>
                <p:cNvSpPr>
                  <a:spLocks/>
                </p:cNvSpPr>
                <p:nvPr/>
              </p:nvSpPr>
              <p:spPr bwMode="auto">
                <a:xfrm>
                  <a:off x="4568" y="1519"/>
                  <a:ext cx="760" cy="593"/>
                </a:xfrm>
                <a:custGeom>
                  <a:avLst/>
                  <a:gdLst>
                    <a:gd name="T0" fmla="*/ 0 w 768"/>
                    <a:gd name="T1" fmla="*/ 672 h 672"/>
                    <a:gd name="T2" fmla="*/ 96 w 768"/>
                    <a:gd name="T3" fmla="*/ 528 h 672"/>
                    <a:gd name="T4" fmla="*/ 528 w 768"/>
                    <a:gd name="T5" fmla="*/ 384 h 672"/>
                    <a:gd name="T6" fmla="*/ 768 w 768"/>
                    <a:gd name="T7" fmla="*/ 0 h 6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68"/>
                    <a:gd name="T13" fmla="*/ 0 h 672"/>
                    <a:gd name="T14" fmla="*/ 768 w 768"/>
                    <a:gd name="T15" fmla="*/ 672 h 6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68" h="672">
                      <a:moveTo>
                        <a:pt x="0" y="672"/>
                      </a:moveTo>
                      <a:cubicBezTo>
                        <a:pt x="4" y="624"/>
                        <a:pt x="8" y="576"/>
                        <a:pt x="96" y="528"/>
                      </a:cubicBezTo>
                      <a:cubicBezTo>
                        <a:pt x="184" y="480"/>
                        <a:pt x="416" y="472"/>
                        <a:pt x="528" y="384"/>
                      </a:cubicBezTo>
                      <a:cubicBezTo>
                        <a:pt x="640" y="296"/>
                        <a:pt x="704" y="148"/>
                        <a:pt x="768" y="0"/>
                      </a:cubicBezTo>
                    </a:path>
                  </a:pathLst>
                </a:custGeom>
                <a:noFill/>
                <a:ln w="12700">
                  <a:solidFill>
                    <a:srgbClr val="F8400E"/>
                  </a:solidFill>
                  <a:prstDash val="lgDash"/>
                  <a:round/>
                  <a:headEnd type="none" w="sm" len="sm"/>
                  <a:tailEnd type="arrow" w="med" len="med"/>
                </a:ln>
              </p:spPr>
              <p:txBody>
                <a:bodyPr wrap="none" anchor="ctr"/>
                <a:lstStyle/>
                <a:p>
                  <a:endParaRPr lang="en-US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55303" name="Rectangle 29"/>
            <p:cNvSpPr>
              <a:spLocks noChangeArrowheads="1"/>
            </p:cNvSpPr>
            <p:nvPr/>
          </p:nvSpPr>
          <p:spPr bwMode="auto">
            <a:xfrm>
              <a:off x="1388" y="343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800" i="1">
                  <a:solidFill>
                    <a:srgbClr val="F8400E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</p:grpSp>
      <p:sp>
        <p:nvSpPr>
          <p:cNvPr id="487454" name="Text Box 30"/>
          <p:cNvSpPr txBox="1">
            <a:spLocks noChangeArrowheads="1"/>
          </p:cNvSpPr>
          <p:nvPr/>
        </p:nvSpPr>
        <p:spPr bwMode="auto">
          <a:xfrm>
            <a:off x="6198334" y="4835799"/>
            <a:ext cx="2783865" cy="87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All frequent patterns that include</a:t>
            </a: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 p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70000"/>
              </a:lnSpc>
            </a:pP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70000"/>
              </a:lnSpc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3A30472-C45F-23DD-BBCB-7DEA49F0F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474108"/>
            <a:ext cx="3814763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Conditional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pattern base for p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  {(fcam:2), (cb:1)}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188AF-6B96-77D5-6023-FB790C153CC1}"/>
              </a:ext>
            </a:extLst>
          </p:cNvPr>
          <p:cNvSpPr txBox="1"/>
          <p:nvPr/>
        </p:nvSpPr>
        <p:spPr>
          <a:xfrm>
            <a:off x="5334000" y="3103807"/>
            <a:ext cx="3443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Count items in conditional base </a:t>
            </a:r>
          </a:p>
          <a:p>
            <a:r>
              <a:rPr lang="en-US" b="1" i="1" dirty="0"/>
              <a:t>(remove items with less than minimum support)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f = 2</a:t>
            </a:r>
            <a:r>
              <a:rPr lang="en-US" b="1" i="1" dirty="0">
                <a:solidFill>
                  <a:srgbClr val="92D050"/>
                </a:solidFill>
              </a:rPr>
              <a:t>, c = 2+1=3</a:t>
            </a:r>
            <a:r>
              <a:rPr lang="en-US" b="1" i="1" dirty="0"/>
              <a:t>, </a:t>
            </a:r>
            <a:r>
              <a:rPr lang="en-US" b="1" i="1" dirty="0">
                <a:solidFill>
                  <a:srgbClr val="FF0000"/>
                </a:solidFill>
              </a:rPr>
              <a:t>a = 2, m = 2, b = 2</a:t>
            </a:r>
          </a:p>
        </p:txBody>
      </p:sp>
      <p:grpSp>
        <p:nvGrpSpPr>
          <p:cNvPr id="10" name="Group 20">
            <a:extLst>
              <a:ext uri="{FF2B5EF4-FFF2-40B4-BE49-F238E27FC236}">
                <a16:creationId xmlns:a16="http://schemas.microsoft.com/office/drawing/2014/main" id="{313E68E5-0F5C-2E9B-E982-49DA660B820B}"/>
              </a:ext>
            </a:extLst>
          </p:cNvPr>
          <p:cNvGrpSpPr>
            <a:grpSpLocks/>
          </p:cNvGrpSpPr>
          <p:nvPr/>
        </p:nvGrpSpPr>
        <p:grpSpPr bwMode="auto">
          <a:xfrm>
            <a:off x="2892644" y="4269149"/>
            <a:ext cx="2575679" cy="1784981"/>
            <a:chOff x="3304" y="2705"/>
            <a:chExt cx="1715" cy="1237"/>
          </a:xfrm>
        </p:grpSpPr>
        <p:grpSp>
          <p:nvGrpSpPr>
            <p:cNvPr id="11" name="Group 21">
              <a:extLst>
                <a:ext uri="{FF2B5EF4-FFF2-40B4-BE49-F238E27FC236}">
                  <a16:creationId xmlns:a16="http://schemas.microsoft.com/office/drawing/2014/main" id="{F7A12346-BADB-7369-A82C-A705DA3D9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2" y="2705"/>
              <a:ext cx="384" cy="771"/>
              <a:chOff x="2272" y="2425"/>
              <a:chExt cx="384" cy="771"/>
            </a:xfrm>
          </p:grpSpPr>
          <p:sp>
            <p:nvSpPr>
              <p:cNvPr id="13" name="Text Box 22">
                <a:extLst>
                  <a:ext uri="{FF2B5EF4-FFF2-40B4-BE49-F238E27FC236}">
                    <a16:creationId xmlns:a16="http://schemas.microsoft.com/office/drawing/2014/main" id="{79667456-ED06-C51D-9581-EDAB68088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25"/>
                <a:ext cx="30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latin typeface="Times New Roman" pitchFamily="18" charset="0"/>
                    <a:cs typeface="Times New Roman" pitchFamily="18" charset="0"/>
                  </a:rPr>
                  <a:t>{}</a:t>
                </a:r>
              </a:p>
            </p:txBody>
          </p:sp>
          <p:sp>
            <p:nvSpPr>
              <p:cNvPr id="14" name="Text Box 23">
                <a:extLst>
                  <a:ext uri="{FF2B5EF4-FFF2-40B4-BE49-F238E27FC236}">
                    <a16:creationId xmlns:a16="http://schemas.microsoft.com/office/drawing/2014/main" id="{201F7691-873D-E6BF-0024-0E3CA2DBF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2" y="2876"/>
                <a:ext cx="384" cy="32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c:3</a:t>
                </a:r>
              </a:p>
            </p:txBody>
          </p:sp>
          <p:cxnSp>
            <p:nvCxnSpPr>
              <p:cNvPr id="17" name="AutoShape 26">
                <a:extLst>
                  <a:ext uri="{FF2B5EF4-FFF2-40B4-BE49-F238E27FC236}">
                    <a16:creationId xmlns:a16="http://schemas.microsoft.com/office/drawing/2014/main" id="{9D1FB4A5-BBA6-3848-15FE-185C7F0B749D}"/>
                  </a:ext>
                </a:extLst>
              </p:cNvPr>
              <p:cNvCxnSpPr>
                <a:cxnSpLocks noChangeShapeType="1"/>
                <a:stCxn id="13" idx="2"/>
                <a:endCxn id="14" idx="0"/>
              </p:cNvCxnSpPr>
              <p:nvPr/>
            </p:nvCxnSpPr>
            <p:spPr bwMode="auto">
              <a:xfrm>
                <a:off x="2462" y="2713"/>
                <a:ext cx="2" cy="16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E6E7F0E3-4E0E-3FB3-A6BA-FD3C0349A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3494"/>
              <a:ext cx="1715" cy="4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b="1" i="1" dirty="0">
                  <a:latin typeface="Times New Roman" pitchFamily="18" charset="0"/>
                  <a:cs typeface="Times New Roman" pitchFamily="18" charset="0"/>
                </a:rPr>
                <a:t>p’s</a:t>
              </a:r>
              <a:r>
                <a:rPr lang="en-US" sz="1800" b="1" i="1" dirty="0">
                  <a:latin typeface="Times New Roman" pitchFamily="18" charset="0"/>
                  <a:cs typeface="Times New Roman" pitchFamily="18" charset="0"/>
                </a:rPr>
                <a:t>-conditional </a:t>
              </a: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FP-tree</a:t>
              </a:r>
            </a:p>
            <a:p>
              <a:pPr>
                <a:spcBef>
                  <a:spcPct val="0"/>
                </a:spcBef>
              </a:pP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(contains only path </a:t>
              </a:r>
              <a:r>
                <a:rPr lang="en-US" sz="18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c:3</a:t>
              </a: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18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 Box 31">
            <a:extLst>
              <a:ext uri="{FF2B5EF4-FFF2-40B4-BE49-F238E27FC236}">
                <a16:creationId xmlns:a16="http://schemas.microsoft.com/office/drawing/2014/main" id="{E2B07604-AE25-C743-D599-211F3D85C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478" y="4531495"/>
            <a:ext cx="59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 3" pitchFamily="18" charset="2"/>
              </a:rPr>
              <a:t>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0955C681-F009-5F4E-D67A-EFC9B45A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730" y="4957822"/>
            <a:ext cx="547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 3" pitchFamily="18" charset="2"/>
              </a:rPr>
              <a:t>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Mining Frequent Patterns Using the FP-tree (cont’d)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915400" cy="16764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Move to next least frequent item in order, i.e., </a:t>
            </a:r>
            <a:r>
              <a:rPr lang="en-US" sz="20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node pointers and traverse only the paths containing </a:t>
            </a:r>
            <a:r>
              <a:rPr lang="en-US" sz="20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Accumulate all of transformed prefix paths of that item to form a </a:t>
            </a: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conditional pattern base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785938" y="3413125"/>
            <a:ext cx="441146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f:4</a:t>
            </a:r>
          </a:p>
        </p:txBody>
      </p:sp>
      <p:cxnSp>
        <p:nvCxnSpPr>
          <p:cNvPr id="56325" name="AutoShape 5"/>
          <p:cNvCxnSpPr>
            <a:cxnSpLocks noChangeShapeType="1"/>
            <a:endCxn id="56324" idx="0"/>
          </p:cNvCxnSpPr>
          <p:nvPr/>
        </p:nvCxnSpPr>
        <p:spPr bwMode="auto">
          <a:xfrm rot="10800000" flipV="1">
            <a:off x="2006512" y="3200399"/>
            <a:ext cx="452527" cy="212725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1492250" y="3963988"/>
            <a:ext cx="479618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c:3</a:t>
            </a:r>
          </a:p>
        </p:txBody>
      </p:sp>
      <p:cxnSp>
        <p:nvCxnSpPr>
          <p:cNvPr id="56327" name="AutoShape 7"/>
          <p:cNvCxnSpPr>
            <a:cxnSpLocks noChangeShapeType="1"/>
            <a:stCxn id="56324" idx="2"/>
            <a:endCxn id="56326" idx="0"/>
          </p:cNvCxnSpPr>
          <p:nvPr/>
        </p:nvCxnSpPr>
        <p:spPr bwMode="auto">
          <a:xfrm rot="5400000">
            <a:off x="1778520" y="3735996"/>
            <a:ext cx="181531" cy="274452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484313" y="4514850"/>
            <a:ext cx="492443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a:3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1192213" y="5068888"/>
            <a:ext cx="543739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m:2</a:t>
            </a:r>
          </a:p>
        </p:txBody>
      </p:sp>
      <p:cxnSp>
        <p:nvCxnSpPr>
          <p:cNvPr id="56330" name="AutoShape 10"/>
          <p:cNvCxnSpPr>
            <a:cxnSpLocks noChangeShapeType="1"/>
            <a:stCxn id="56326" idx="2"/>
            <a:endCxn id="56328" idx="0"/>
          </p:cNvCxnSpPr>
          <p:nvPr/>
        </p:nvCxnSpPr>
        <p:spPr bwMode="auto">
          <a:xfrm rot="5400000">
            <a:off x="1640532" y="4423323"/>
            <a:ext cx="181530" cy="1524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cxnSp>
        <p:nvCxnSpPr>
          <p:cNvPr id="56331" name="AutoShape 11"/>
          <p:cNvCxnSpPr>
            <a:cxnSpLocks noChangeShapeType="1"/>
            <a:stCxn id="56328" idx="2"/>
            <a:endCxn id="56329" idx="0"/>
          </p:cNvCxnSpPr>
          <p:nvPr/>
        </p:nvCxnSpPr>
        <p:spPr bwMode="auto">
          <a:xfrm rot="5400000">
            <a:off x="1504956" y="4843309"/>
            <a:ext cx="184706" cy="266452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457200" y="4557713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800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m</a:t>
            </a:r>
          </a:p>
        </p:txBody>
      </p:sp>
      <p:cxnSp>
        <p:nvCxnSpPr>
          <p:cNvPr id="56333" name="AutoShape 13"/>
          <p:cNvCxnSpPr>
            <a:cxnSpLocks noChangeShapeType="1"/>
          </p:cNvCxnSpPr>
          <p:nvPr/>
        </p:nvCxnSpPr>
        <p:spPr bwMode="auto">
          <a:xfrm>
            <a:off x="1752600" y="4900613"/>
            <a:ext cx="382588" cy="168275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sp>
        <p:nvSpPr>
          <p:cNvPr id="56334" name="Text Box 14"/>
          <p:cNvSpPr txBox="1">
            <a:spLocks noChangeArrowheads="1"/>
          </p:cNvSpPr>
          <p:nvPr/>
        </p:nvSpPr>
        <p:spPr bwMode="auto">
          <a:xfrm>
            <a:off x="1830388" y="5634038"/>
            <a:ext cx="543739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m:1</a:t>
            </a:r>
          </a:p>
        </p:txBody>
      </p:sp>
      <p:cxnSp>
        <p:nvCxnSpPr>
          <p:cNvPr id="56335" name="AutoShape 15"/>
          <p:cNvCxnSpPr>
            <a:cxnSpLocks noChangeShapeType="1"/>
            <a:endCxn id="56334" idx="0"/>
          </p:cNvCxnSpPr>
          <p:nvPr/>
        </p:nvCxnSpPr>
        <p:spPr bwMode="auto">
          <a:xfrm rot="5400000">
            <a:off x="2030617" y="5537404"/>
            <a:ext cx="168275" cy="24992"/>
          </a:xfrm>
          <a:prstGeom prst="straightConnector1">
            <a:avLst/>
          </a:prstGeom>
          <a:noFill/>
          <a:ln w="12700">
            <a:solidFill>
              <a:srgbClr val="F8400E"/>
            </a:solidFill>
            <a:round/>
            <a:headEnd type="none" w="sm" len="sm"/>
            <a:tailEnd type="none" w="sm" len="sm"/>
          </a:ln>
        </p:spPr>
      </p:cxnSp>
      <p:sp>
        <p:nvSpPr>
          <p:cNvPr id="56336" name="Text Box 16"/>
          <p:cNvSpPr txBox="1">
            <a:spLocks noChangeArrowheads="1"/>
          </p:cNvSpPr>
          <p:nvPr/>
        </p:nvSpPr>
        <p:spPr bwMode="auto">
          <a:xfrm>
            <a:off x="1844675" y="5068888"/>
            <a:ext cx="492443" cy="369332"/>
          </a:xfrm>
          <a:prstGeom prst="rect">
            <a:avLst/>
          </a:prstGeom>
          <a:noFill/>
          <a:ln w="12700">
            <a:solidFill>
              <a:srgbClr val="F8400E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i="1">
                <a:solidFill>
                  <a:srgbClr val="F8400E"/>
                </a:solidFill>
                <a:latin typeface="Times New Roman" pitchFamily="18" charset="0"/>
                <a:cs typeface="Times New Roman" pitchFamily="18" charset="0"/>
              </a:rPr>
              <a:t>b:1</a:t>
            </a:r>
          </a:p>
        </p:txBody>
      </p:sp>
      <p:sp>
        <p:nvSpPr>
          <p:cNvPr id="56337" name="Freeform 17"/>
          <p:cNvSpPr>
            <a:spLocks/>
          </p:cNvSpPr>
          <p:nvPr/>
        </p:nvSpPr>
        <p:spPr bwMode="auto">
          <a:xfrm>
            <a:off x="833438" y="4900613"/>
            <a:ext cx="460375" cy="301625"/>
          </a:xfrm>
          <a:custGeom>
            <a:avLst/>
            <a:gdLst>
              <a:gd name="T0" fmla="*/ 0 w 288"/>
              <a:gd name="T1" fmla="*/ 0 h 240"/>
              <a:gd name="T2" fmla="*/ 144 w 288"/>
              <a:gd name="T3" fmla="*/ 48 h 240"/>
              <a:gd name="T4" fmla="*/ 192 w 288"/>
              <a:gd name="T5" fmla="*/ 192 h 240"/>
              <a:gd name="T6" fmla="*/ 288 w 288"/>
              <a:gd name="T7" fmla="*/ 24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rgbClr val="F8400E"/>
            </a:solidFill>
            <a:prstDash val="lgDash"/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338" name="Freeform 18"/>
          <p:cNvSpPr>
            <a:spLocks/>
          </p:cNvSpPr>
          <p:nvPr/>
        </p:nvSpPr>
        <p:spPr bwMode="auto">
          <a:xfrm>
            <a:off x="1752600" y="5202238"/>
            <a:ext cx="153988" cy="484187"/>
          </a:xfrm>
          <a:custGeom>
            <a:avLst/>
            <a:gdLst>
              <a:gd name="T0" fmla="*/ 0 w 96"/>
              <a:gd name="T1" fmla="*/ 0 h 384"/>
              <a:gd name="T2" fmla="*/ 48 w 96"/>
              <a:gd name="T3" fmla="*/ 96 h 384"/>
              <a:gd name="T4" fmla="*/ 48 w 96"/>
              <a:gd name="T5" fmla="*/ 288 h 384"/>
              <a:gd name="T6" fmla="*/ 96 w 96"/>
              <a:gd name="T7" fmla="*/ 384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rgbClr val="F8400E"/>
            </a:solidFill>
            <a:prstDash val="lgDash"/>
            <a:round/>
            <a:headEnd type="none" w="sm" len="sm"/>
            <a:tailEnd type="arrow" w="med" len="med"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339" name="Rectangle 19"/>
          <p:cNvSpPr>
            <a:spLocks noChangeArrowheads="1"/>
          </p:cNvSpPr>
          <p:nvPr/>
        </p:nvSpPr>
        <p:spPr bwMode="auto">
          <a:xfrm>
            <a:off x="2895600" y="2656267"/>
            <a:ext cx="541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m’s conditional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pattern base:   {(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fca:2), (fcab:1)}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895600" y="3989388"/>
            <a:ext cx="2692400" cy="2652712"/>
            <a:chOff x="3312" y="2705"/>
            <a:chExt cx="1696" cy="1671"/>
          </a:xfrm>
        </p:grpSpPr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3792" y="2705"/>
              <a:ext cx="372" cy="1335"/>
              <a:chOff x="2282" y="2425"/>
              <a:chExt cx="372" cy="1335"/>
            </a:xfrm>
          </p:grpSpPr>
          <p:sp>
            <p:nvSpPr>
              <p:cNvPr id="56346" name="Text Box 22"/>
              <p:cNvSpPr txBox="1">
                <a:spLocks noChangeArrowheads="1"/>
              </p:cNvSpPr>
              <p:nvPr/>
            </p:nvSpPr>
            <p:spPr bwMode="auto">
              <a:xfrm>
                <a:off x="2312" y="2425"/>
                <a:ext cx="300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latin typeface="Times New Roman" pitchFamily="18" charset="0"/>
                    <a:cs typeface="Times New Roman" pitchFamily="18" charset="0"/>
                  </a:rPr>
                  <a:t>{}</a:t>
                </a:r>
              </a:p>
            </p:txBody>
          </p:sp>
          <p:sp>
            <p:nvSpPr>
              <p:cNvPr id="56347" name="Text Box 23"/>
              <p:cNvSpPr txBox="1">
                <a:spLocks noChangeArrowheads="1"/>
              </p:cNvSpPr>
              <p:nvPr/>
            </p:nvSpPr>
            <p:spPr bwMode="auto">
              <a:xfrm>
                <a:off x="2300" y="2809"/>
                <a:ext cx="331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f:3</a:t>
                </a:r>
              </a:p>
            </p:txBody>
          </p:sp>
          <p:sp>
            <p:nvSpPr>
              <p:cNvPr id="56348" name="Text Box 24"/>
              <p:cNvSpPr txBox="1">
                <a:spLocks noChangeArrowheads="1"/>
              </p:cNvSpPr>
              <p:nvPr/>
            </p:nvSpPr>
            <p:spPr bwMode="auto">
              <a:xfrm>
                <a:off x="2287" y="3136"/>
                <a:ext cx="361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c:3</a:t>
                </a:r>
              </a:p>
            </p:txBody>
          </p:sp>
          <p:sp>
            <p:nvSpPr>
              <p:cNvPr id="56349" name="Text Box 25"/>
              <p:cNvSpPr txBox="1">
                <a:spLocks noChangeArrowheads="1"/>
              </p:cNvSpPr>
              <p:nvPr/>
            </p:nvSpPr>
            <p:spPr bwMode="auto">
              <a:xfrm>
                <a:off x="2282" y="3472"/>
                <a:ext cx="372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a:3</a:t>
                </a:r>
              </a:p>
            </p:txBody>
          </p:sp>
          <p:cxnSp>
            <p:nvCxnSpPr>
              <p:cNvPr id="56350" name="AutoShape 26"/>
              <p:cNvCxnSpPr>
                <a:cxnSpLocks noChangeShapeType="1"/>
                <a:stCxn id="56346" idx="2"/>
                <a:endCxn id="56347" idx="0"/>
              </p:cNvCxnSpPr>
              <p:nvPr/>
            </p:nvCxnSpPr>
            <p:spPr bwMode="auto">
              <a:xfrm>
                <a:off x="2462" y="2713"/>
                <a:ext cx="4" cy="9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351" name="AutoShape 27"/>
              <p:cNvCxnSpPr>
                <a:cxnSpLocks noChangeShapeType="1"/>
                <a:stCxn id="56347" idx="2"/>
                <a:endCxn id="56348" idx="0"/>
              </p:cNvCxnSpPr>
              <p:nvPr/>
            </p:nvCxnSpPr>
            <p:spPr bwMode="auto">
              <a:xfrm>
                <a:off x="2466" y="3100"/>
                <a:ext cx="2" cy="3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352" name="AutoShape 28"/>
              <p:cNvCxnSpPr>
                <a:cxnSpLocks noChangeShapeType="1"/>
                <a:stCxn id="56348" idx="2"/>
                <a:endCxn id="56349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6345" name="Text Box 29"/>
            <p:cNvSpPr txBox="1">
              <a:spLocks noChangeArrowheads="1"/>
            </p:cNvSpPr>
            <p:nvPr/>
          </p:nvSpPr>
          <p:spPr bwMode="auto">
            <a:xfrm>
              <a:off x="3312" y="3969"/>
              <a:ext cx="1696" cy="40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b="1" i="1" dirty="0"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sz="1800" b="1" i="1" dirty="0">
                  <a:latin typeface="Times New Roman" pitchFamily="18" charset="0"/>
                  <a:cs typeface="Times New Roman" pitchFamily="18" charset="0"/>
                </a:rPr>
                <a:t>’s-conditional </a:t>
              </a: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FP-tree</a:t>
              </a:r>
            </a:p>
            <a:p>
              <a:pPr>
                <a:spcBef>
                  <a:spcPct val="0"/>
                </a:spcBef>
              </a:pP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(contains only path </a:t>
              </a:r>
              <a:r>
                <a:rPr lang="en-US" sz="18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fca:3</a:t>
              </a:r>
              <a:r>
                <a:rPr lang="en-US" sz="1800" b="1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18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341" name="Rectangle 30"/>
          <p:cNvSpPr>
            <a:spLocks noChangeArrowheads="1"/>
          </p:cNvSpPr>
          <p:nvPr/>
        </p:nvSpPr>
        <p:spPr bwMode="auto">
          <a:xfrm>
            <a:off x="6184804" y="3963988"/>
            <a:ext cx="3389312" cy="1649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All frequent patterns that include</a:t>
            </a: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 m</a:t>
            </a:r>
          </a:p>
          <a:p>
            <a:pPr>
              <a:lnSpc>
                <a:spcPct val="70000"/>
              </a:lnSpc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70000"/>
              </a:lnSpc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fm, cm, am, </a:t>
            </a:r>
          </a:p>
          <a:p>
            <a:pPr>
              <a:lnSpc>
                <a:spcPct val="70000"/>
              </a:lnSpc>
            </a:pP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70000"/>
              </a:lnSpc>
            </a:pP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fcm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, fam, cam, </a:t>
            </a:r>
          </a:p>
          <a:p>
            <a:pPr>
              <a:lnSpc>
                <a:spcPct val="70000"/>
              </a:lnSpc>
            </a:pP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70000"/>
              </a:lnSpc>
            </a:pP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fcam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342" name="Text Box 31"/>
          <p:cNvSpPr txBox="1">
            <a:spLocks noChangeArrowheads="1"/>
          </p:cNvSpPr>
          <p:nvPr/>
        </p:nvSpPr>
        <p:spPr bwMode="auto">
          <a:xfrm>
            <a:off x="2744042" y="4532312"/>
            <a:ext cx="59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  <a:sym typeface="Wingdings 3" pitchFamily="18" charset="2"/>
              </a:rPr>
              <a:t>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343" name="Rectangle 32"/>
          <p:cNvSpPr>
            <a:spLocks noChangeArrowheads="1"/>
          </p:cNvSpPr>
          <p:nvPr/>
        </p:nvSpPr>
        <p:spPr bwMode="auto">
          <a:xfrm>
            <a:off x="4419600" y="4519613"/>
            <a:ext cx="547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  <a:sym typeface="Wingdings 3" pitchFamily="18" charset="2"/>
              </a:rPr>
              <a:t>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AF7D3-4554-FCA1-7F93-21CB86130231}"/>
              </a:ext>
            </a:extLst>
          </p:cNvPr>
          <p:cNvSpPr txBox="1"/>
          <p:nvPr/>
        </p:nvSpPr>
        <p:spPr>
          <a:xfrm>
            <a:off x="4364678" y="3029049"/>
            <a:ext cx="4779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Count items in conditional base </a:t>
            </a:r>
          </a:p>
          <a:p>
            <a:r>
              <a:rPr lang="en-US" b="1" i="1" dirty="0"/>
              <a:t>(remove items with less than minimum support)</a:t>
            </a:r>
          </a:p>
          <a:p>
            <a:r>
              <a:rPr lang="en-US" b="1" i="1" dirty="0">
                <a:solidFill>
                  <a:srgbClr val="92D050"/>
                </a:solidFill>
              </a:rPr>
              <a:t>f = 2+1=3, c = 2+1=3, a = 2+1=3</a:t>
            </a:r>
            <a:r>
              <a:rPr lang="en-US" b="1" i="1" dirty="0">
                <a:solidFill>
                  <a:srgbClr val="FF0000"/>
                </a:solidFill>
              </a:rPr>
              <a:t>, b = 2</a:t>
            </a:r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7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Conditional Pattern-Bases for the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33500" y="1819275"/>
            <a:ext cx="6477000" cy="3219450"/>
            <a:chOff x="384" y="1440"/>
            <a:chExt cx="5184" cy="2520"/>
          </a:xfrm>
        </p:grpSpPr>
        <p:sp>
          <p:nvSpPr>
            <p:cNvPr id="58372" name="Rectangle 4"/>
            <p:cNvSpPr>
              <a:spLocks noChangeArrowheads="1"/>
            </p:cNvSpPr>
            <p:nvPr/>
          </p:nvSpPr>
          <p:spPr bwMode="auto">
            <a:xfrm>
              <a:off x="3552" y="3594"/>
              <a:ext cx="201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Empty</a:t>
              </a:r>
            </a:p>
          </p:txBody>
        </p:sp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1008" y="3594"/>
              <a:ext cx="254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Empty</a:t>
              </a:r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384" y="3594"/>
              <a:ext cx="62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58375" name="Rectangle 7"/>
            <p:cNvSpPr>
              <a:spLocks noChangeArrowheads="1"/>
            </p:cNvSpPr>
            <p:nvPr/>
          </p:nvSpPr>
          <p:spPr bwMode="auto">
            <a:xfrm>
              <a:off x="3552" y="3229"/>
              <a:ext cx="201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{(f:3)}|c</a:t>
              </a:r>
            </a:p>
          </p:txBody>
        </p:sp>
        <p:sp>
          <p:nvSpPr>
            <p:cNvPr id="58376" name="Rectangle 8"/>
            <p:cNvSpPr>
              <a:spLocks noChangeArrowheads="1"/>
            </p:cNvSpPr>
            <p:nvPr/>
          </p:nvSpPr>
          <p:spPr bwMode="auto">
            <a:xfrm>
              <a:off x="1008" y="3229"/>
              <a:ext cx="25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{(f:3)}</a:t>
              </a:r>
            </a:p>
          </p:txBody>
        </p:sp>
        <p:sp>
          <p:nvSpPr>
            <p:cNvPr id="58377" name="Rectangle 9"/>
            <p:cNvSpPr>
              <a:spLocks noChangeArrowheads="1"/>
            </p:cNvSpPr>
            <p:nvPr/>
          </p:nvSpPr>
          <p:spPr bwMode="auto">
            <a:xfrm>
              <a:off x="384" y="3229"/>
              <a:ext cx="62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58378" name="Rectangle 10"/>
            <p:cNvSpPr>
              <a:spLocks noChangeArrowheads="1"/>
            </p:cNvSpPr>
            <p:nvPr/>
          </p:nvSpPr>
          <p:spPr bwMode="auto">
            <a:xfrm>
              <a:off x="3552" y="2863"/>
              <a:ext cx="201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{(f:3, c:3)}|a</a:t>
              </a:r>
            </a:p>
          </p:txBody>
        </p:sp>
        <p:sp>
          <p:nvSpPr>
            <p:cNvPr id="58379" name="Rectangle 11"/>
            <p:cNvSpPr>
              <a:spLocks noChangeArrowheads="1"/>
            </p:cNvSpPr>
            <p:nvPr/>
          </p:nvSpPr>
          <p:spPr bwMode="auto">
            <a:xfrm>
              <a:off x="1008" y="2863"/>
              <a:ext cx="254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{(fc:3)}</a:t>
              </a: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384" y="2863"/>
              <a:ext cx="62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8381" name="Rectangle 13"/>
            <p:cNvSpPr>
              <a:spLocks noChangeArrowheads="1"/>
            </p:cNvSpPr>
            <p:nvPr/>
          </p:nvSpPr>
          <p:spPr bwMode="auto">
            <a:xfrm>
              <a:off x="3552" y="2497"/>
              <a:ext cx="201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Empty</a:t>
              </a:r>
            </a:p>
          </p:txBody>
        </p:sp>
        <p:sp>
          <p:nvSpPr>
            <p:cNvPr id="58382" name="Rectangle 14"/>
            <p:cNvSpPr>
              <a:spLocks noChangeArrowheads="1"/>
            </p:cNvSpPr>
            <p:nvPr/>
          </p:nvSpPr>
          <p:spPr bwMode="auto">
            <a:xfrm>
              <a:off x="1008" y="2497"/>
              <a:ext cx="254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{(fca:1), (f:1), (c:1)}</a:t>
              </a:r>
            </a:p>
          </p:txBody>
        </p:sp>
        <p:sp>
          <p:nvSpPr>
            <p:cNvPr id="58383" name="Rectangle 15"/>
            <p:cNvSpPr>
              <a:spLocks noChangeArrowheads="1"/>
            </p:cNvSpPr>
            <p:nvPr/>
          </p:nvSpPr>
          <p:spPr bwMode="auto">
            <a:xfrm>
              <a:off x="384" y="2497"/>
              <a:ext cx="62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8384" name="Rectangle 16"/>
            <p:cNvSpPr>
              <a:spLocks noChangeArrowheads="1"/>
            </p:cNvSpPr>
            <p:nvPr/>
          </p:nvSpPr>
          <p:spPr bwMode="auto">
            <a:xfrm>
              <a:off x="3552" y="2131"/>
              <a:ext cx="201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{(f:3, c:3, a:3)}|m</a:t>
              </a:r>
            </a:p>
          </p:txBody>
        </p:sp>
        <p:sp>
          <p:nvSpPr>
            <p:cNvPr id="58385" name="Rectangle 17"/>
            <p:cNvSpPr>
              <a:spLocks noChangeArrowheads="1"/>
            </p:cNvSpPr>
            <p:nvPr/>
          </p:nvSpPr>
          <p:spPr bwMode="auto">
            <a:xfrm>
              <a:off x="1008" y="2131"/>
              <a:ext cx="254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{(fca:2), (fcab:1)}</a:t>
              </a:r>
            </a:p>
          </p:txBody>
        </p:sp>
        <p:sp>
          <p:nvSpPr>
            <p:cNvPr id="58386" name="Rectangle 18"/>
            <p:cNvSpPr>
              <a:spLocks noChangeArrowheads="1"/>
            </p:cNvSpPr>
            <p:nvPr/>
          </p:nvSpPr>
          <p:spPr bwMode="auto">
            <a:xfrm>
              <a:off x="384" y="2131"/>
              <a:ext cx="62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m</a:t>
              </a:r>
            </a:p>
          </p:txBody>
        </p:sp>
        <p:sp>
          <p:nvSpPr>
            <p:cNvPr id="58387" name="Rectangle 19"/>
            <p:cNvSpPr>
              <a:spLocks noChangeArrowheads="1"/>
            </p:cNvSpPr>
            <p:nvPr/>
          </p:nvSpPr>
          <p:spPr bwMode="auto">
            <a:xfrm>
              <a:off x="3552" y="1766"/>
              <a:ext cx="201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{(c:3)}|p</a:t>
              </a:r>
            </a:p>
          </p:txBody>
        </p:sp>
        <p:sp>
          <p:nvSpPr>
            <p:cNvPr id="58388" name="Rectangle 20"/>
            <p:cNvSpPr>
              <a:spLocks noChangeArrowheads="1"/>
            </p:cNvSpPr>
            <p:nvPr/>
          </p:nvSpPr>
          <p:spPr bwMode="auto">
            <a:xfrm>
              <a:off x="1008" y="1766"/>
              <a:ext cx="25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{(fcam:2), (cb:1)}</a:t>
              </a:r>
            </a:p>
          </p:txBody>
        </p:sp>
        <p:sp>
          <p:nvSpPr>
            <p:cNvPr id="58389" name="Rectangle 21"/>
            <p:cNvSpPr>
              <a:spLocks noChangeArrowheads="1"/>
            </p:cNvSpPr>
            <p:nvPr/>
          </p:nvSpPr>
          <p:spPr bwMode="auto">
            <a:xfrm>
              <a:off x="384" y="1766"/>
              <a:ext cx="62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  <p:sp>
          <p:nvSpPr>
            <p:cNvPr id="58390" name="Rectangle 22"/>
            <p:cNvSpPr>
              <a:spLocks noChangeArrowheads="1"/>
            </p:cNvSpPr>
            <p:nvPr/>
          </p:nvSpPr>
          <p:spPr bwMode="auto">
            <a:xfrm>
              <a:off x="3552" y="1440"/>
              <a:ext cx="201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Conditional FP-tree</a:t>
              </a:r>
            </a:p>
          </p:txBody>
        </p:sp>
        <p:sp>
          <p:nvSpPr>
            <p:cNvPr id="58391" name="Rectangle 23"/>
            <p:cNvSpPr>
              <a:spLocks noChangeArrowheads="1"/>
            </p:cNvSpPr>
            <p:nvPr/>
          </p:nvSpPr>
          <p:spPr bwMode="auto">
            <a:xfrm>
              <a:off x="1008" y="1440"/>
              <a:ext cx="254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Conditional pattern-base</a:t>
              </a:r>
            </a:p>
          </p:txBody>
        </p:sp>
        <p:sp>
          <p:nvSpPr>
            <p:cNvPr id="58392" name="Rectangle 24"/>
            <p:cNvSpPr>
              <a:spLocks noChangeArrowheads="1"/>
            </p:cNvSpPr>
            <p:nvPr/>
          </p:nvSpPr>
          <p:spPr bwMode="auto">
            <a:xfrm>
              <a:off x="384" y="1440"/>
              <a:ext cx="62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Times New Roman" pitchFamily="18" charset="0"/>
                  <a:cs typeface="Times New Roman" pitchFamily="18" charset="0"/>
                </a:rPr>
                <a:t>Item</a:t>
              </a:r>
            </a:p>
          </p:txBody>
        </p:sp>
        <p:sp>
          <p:nvSpPr>
            <p:cNvPr id="58393" name="Line 25"/>
            <p:cNvSpPr>
              <a:spLocks noChangeShapeType="1"/>
            </p:cNvSpPr>
            <p:nvPr/>
          </p:nvSpPr>
          <p:spPr bwMode="auto">
            <a:xfrm>
              <a:off x="384" y="1440"/>
              <a:ext cx="51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4" name="Line 26"/>
            <p:cNvSpPr>
              <a:spLocks noChangeShapeType="1"/>
            </p:cNvSpPr>
            <p:nvPr/>
          </p:nvSpPr>
          <p:spPr bwMode="auto">
            <a:xfrm>
              <a:off x="384" y="1766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5" name="Line 27"/>
            <p:cNvSpPr>
              <a:spLocks noChangeShapeType="1"/>
            </p:cNvSpPr>
            <p:nvPr/>
          </p:nvSpPr>
          <p:spPr bwMode="auto">
            <a:xfrm>
              <a:off x="384" y="2131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6" name="Line 28"/>
            <p:cNvSpPr>
              <a:spLocks noChangeShapeType="1"/>
            </p:cNvSpPr>
            <p:nvPr/>
          </p:nvSpPr>
          <p:spPr bwMode="auto">
            <a:xfrm>
              <a:off x="384" y="2497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7" name="Line 29"/>
            <p:cNvSpPr>
              <a:spLocks noChangeShapeType="1"/>
            </p:cNvSpPr>
            <p:nvPr/>
          </p:nvSpPr>
          <p:spPr bwMode="auto">
            <a:xfrm>
              <a:off x="384" y="2863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8" name="Line 30"/>
            <p:cNvSpPr>
              <a:spLocks noChangeShapeType="1"/>
            </p:cNvSpPr>
            <p:nvPr/>
          </p:nvSpPr>
          <p:spPr bwMode="auto">
            <a:xfrm>
              <a:off x="384" y="3229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99" name="Line 31"/>
            <p:cNvSpPr>
              <a:spLocks noChangeShapeType="1"/>
            </p:cNvSpPr>
            <p:nvPr/>
          </p:nvSpPr>
          <p:spPr bwMode="auto">
            <a:xfrm>
              <a:off x="384" y="3594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00" name="Line 32"/>
            <p:cNvSpPr>
              <a:spLocks noChangeShapeType="1"/>
            </p:cNvSpPr>
            <p:nvPr/>
          </p:nvSpPr>
          <p:spPr bwMode="auto">
            <a:xfrm>
              <a:off x="384" y="3960"/>
              <a:ext cx="51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01" name="Line 33"/>
            <p:cNvSpPr>
              <a:spLocks noChangeShapeType="1"/>
            </p:cNvSpPr>
            <p:nvPr/>
          </p:nvSpPr>
          <p:spPr bwMode="auto">
            <a:xfrm>
              <a:off x="384" y="1440"/>
              <a:ext cx="0" cy="25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02" name="Line 34"/>
            <p:cNvSpPr>
              <a:spLocks noChangeShapeType="1"/>
            </p:cNvSpPr>
            <p:nvPr/>
          </p:nvSpPr>
          <p:spPr bwMode="auto">
            <a:xfrm>
              <a:off x="1008" y="1440"/>
              <a:ext cx="0" cy="2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03" name="Line 35"/>
            <p:cNvSpPr>
              <a:spLocks noChangeShapeType="1"/>
            </p:cNvSpPr>
            <p:nvPr/>
          </p:nvSpPr>
          <p:spPr bwMode="auto">
            <a:xfrm>
              <a:off x="3552" y="1440"/>
              <a:ext cx="0" cy="2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04" name="Line 36"/>
            <p:cNvSpPr>
              <a:spLocks noChangeShapeType="1"/>
            </p:cNvSpPr>
            <p:nvPr/>
          </p:nvSpPr>
          <p:spPr bwMode="auto">
            <a:xfrm>
              <a:off x="5568" y="1440"/>
              <a:ext cx="0" cy="25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400"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B962BC5-D402-E0BA-E85F-04EF8468E08F}"/>
                  </a:ext>
                </a:extLst>
              </p14:cNvPr>
              <p14:cNvContentPartPr/>
              <p14:nvPr/>
            </p14:nvContentPartPr>
            <p14:xfrm>
              <a:off x="-1443893" y="809120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B962BC5-D402-E0BA-E85F-04EF8468E08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1450013" y="80300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37D8-7E33-90B8-D85C-08388E29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CD47DEE-23FE-F895-D7A0-9BDE332A6C12}"/>
                  </a:ext>
                </a:extLst>
              </p14:cNvPr>
              <p14:cNvContentPartPr/>
              <p14:nvPr/>
            </p14:nvContentPartPr>
            <p14:xfrm>
              <a:off x="-1443893" y="809120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CD47DEE-23FE-F895-D7A0-9BDE332A6C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0013" y="8030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8C94518-A1BE-2954-9F5D-ABFDB8A913AC}"/>
              </a:ext>
            </a:extLst>
          </p:cNvPr>
          <p:cNvSpPr txBox="1"/>
          <p:nvPr/>
        </p:nvSpPr>
        <p:spPr>
          <a:xfrm>
            <a:off x="533400" y="152400"/>
            <a:ext cx="814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Conditional Frequent Pattern(FP) tree the </a:t>
            </a:r>
            <a:r>
              <a:rPr lang="en-US" b="1" dirty="0">
                <a:solidFill>
                  <a:srgbClr val="FF0000"/>
                </a:solidFill>
              </a:rPr>
              <a:t>Frequent Pattern rules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are </a:t>
            </a:r>
            <a:r>
              <a:rPr lang="en-US" b="1" dirty="0">
                <a:solidFill>
                  <a:srgbClr val="FF0000"/>
                </a:solidFill>
              </a:rPr>
              <a:t>generated</a:t>
            </a:r>
            <a:r>
              <a:rPr lang="en-US" dirty="0"/>
              <a:t> by pairing the items of the Conditional Frequent Pattern Tree set to the corresponding item as given in the below table.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82AF15-AE3E-F8C7-6497-48FA97E92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61125"/>
              </p:ext>
            </p:extLst>
          </p:nvPr>
        </p:nvGraphicFramePr>
        <p:xfrm>
          <a:off x="550333" y="1075730"/>
          <a:ext cx="5901811" cy="2372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2068">
                  <a:extLst>
                    <a:ext uri="{9D8B030D-6E8A-4147-A177-3AD203B41FA5}">
                      <a16:colId xmlns:a16="http://schemas.microsoft.com/office/drawing/2014/main" val="3583023989"/>
                    </a:ext>
                  </a:extLst>
                </a:gridCol>
                <a:gridCol w="4869743">
                  <a:extLst>
                    <a:ext uri="{9D8B030D-6E8A-4147-A177-3AD203B41FA5}">
                      <a16:colId xmlns:a16="http://schemas.microsoft.com/office/drawing/2014/main" val="4283671770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Item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Frequent Patterns Generated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10216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{&lt;c,p:3&gt;}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5438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{&lt;f,m:3&gt;, &lt;c,m:3&gt;, &lt;a,m:3&gt;, &lt;f,m:2&gt;, &lt;f,c,m:3&gt;}, &lt;f,a,m:3&gt;, &lt;c,a,m:3&gt;, &lt;f,c,a,m:3&gt;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134579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Empty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7555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{&lt;f,a:3&gt;, &lt;c,a:3&gt;, &lt;f,c,a:3&gt;}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4070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&lt;f,c:3&gt;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613963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Empty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29369"/>
                  </a:ext>
                </a:extLst>
              </a:tr>
            </a:tbl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A44535DE-A1F5-8EA3-EB20-61E276FE1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33" y="4114800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C7107487-5055-DC9E-A98E-B0CA696DE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08" y="3840163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30BF5-CDD4-9885-EED8-67DAAEE201F6}"/>
              </a:ext>
            </a:extLst>
          </p:cNvPr>
          <p:cNvSpPr txBox="1"/>
          <p:nvPr/>
        </p:nvSpPr>
        <p:spPr>
          <a:xfrm>
            <a:off x="3429000" y="418675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-&gt; 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B2F4E-E9F1-9855-B337-B5A88E2D420A}"/>
              </a:ext>
            </a:extLst>
          </p:cNvPr>
          <p:cNvSpPr txBox="1"/>
          <p:nvPr/>
        </p:nvSpPr>
        <p:spPr>
          <a:xfrm>
            <a:off x="3318933" y="3742267"/>
            <a:ext cx="187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Rules from row 1: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051FA-BEAF-8076-6533-42ED7782655D}"/>
              </a:ext>
            </a:extLst>
          </p:cNvPr>
          <p:cNvSpPr txBox="1"/>
          <p:nvPr/>
        </p:nvSpPr>
        <p:spPr>
          <a:xfrm>
            <a:off x="5071535" y="418675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-&gt;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6CB8C9-7A72-064D-5585-DDD7F7E68018}"/>
                  </a:ext>
                </a:extLst>
              </p:cNvPr>
              <p:cNvSpPr txBox="1"/>
              <p:nvPr/>
            </p:nvSpPr>
            <p:spPr>
              <a:xfrm>
                <a:off x="2548995" y="4617187"/>
                <a:ext cx="5694957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−&gt;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𝑐𝑜𝑛𝑓𝑖𝑑𝑒𝑛𝑐𝑒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support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support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6CB8C9-7A72-064D-5585-DDD7F7E68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95" y="4617187"/>
                <a:ext cx="5694957" cy="669094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566DF4-5683-D4CF-889D-3D827BCA3903}"/>
                  </a:ext>
                </a:extLst>
              </p:cNvPr>
              <p:cNvSpPr txBox="1"/>
              <p:nvPr/>
            </p:nvSpPr>
            <p:spPr>
              <a:xfrm>
                <a:off x="2548994" y="5301661"/>
                <a:ext cx="5680016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−&gt;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𝑐𝑜𝑛𝑓𝑖𝑑𝑒𝑛𝑐𝑒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support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support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=100%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566DF4-5683-D4CF-889D-3D827BCA3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94" y="5301661"/>
                <a:ext cx="5680016" cy="669094"/>
              </a:xfrm>
              <a:prstGeom prst="rect">
                <a:avLst/>
              </a:prstGeom>
              <a:blipFill>
                <a:blip r:embed="rId6"/>
                <a:stretch>
                  <a:fillRect r="-446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DEB559D-896F-28A1-C288-F8EBC2095395}"/>
              </a:ext>
            </a:extLst>
          </p:cNvPr>
          <p:cNvSpPr txBox="1"/>
          <p:nvPr/>
        </p:nvSpPr>
        <p:spPr>
          <a:xfrm>
            <a:off x="2667001" y="6132214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Now if confidence is 90% then rule c-&gt;p will be rejected and only the rule p-&gt;c will be considered</a:t>
            </a:r>
          </a:p>
        </p:txBody>
      </p:sp>
    </p:spTree>
    <p:extLst>
      <p:ext uri="{BB962C8B-B14F-4D97-AF65-F5344CB8AC3E}">
        <p14:creationId xmlns:p14="http://schemas.microsoft.com/office/powerpoint/2010/main" val="4261944181"/>
      </p:ext>
    </p:extLst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A4F9-7494-6387-91B2-5C242A1F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D13DFF9-2BCC-A9CE-D692-499CBB6F6486}"/>
                  </a:ext>
                </a:extLst>
              </p14:cNvPr>
              <p14:cNvContentPartPr/>
              <p14:nvPr/>
            </p14:nvContentPartPr>
            <p14:xfrm>
              <a:off x="-1443893" y="809120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D13DFF9-2BCC-A9CE-D692-499CBB6F64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0013" y="8030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E5C831-40FB-DCCE-DEE5-181491249039}"/>
              </a:ext>
            </a:extLst>
          </p:cNvPr>
          <p:cNvSpPr txBox="1"/>
          <p:nvPr/>
        </p:nvSpPr>
        <p:spPr>
          <a:xfrm>
            <a:off x="533400" y="152400"/>
            <a:ext cx="814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Conditional Frequent Pattern(FP) tree the </a:t>
            </a:r>
            <a:r>
              <a:rPr lang="en-US" b="1" dirty="0"/>
              <a:t>Frequent Pattern rules</a:t>
            </a:r>
            <a:r>
              <a:rPr lang="en-US" dirty="0"/>
              <a:t> are generated by pairing the items of the Conditional Frequent Pattern Tree set to the corresponding to the item as given in the below table.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46E2C-570C-DB6A-D6F0-36639A3DF26D}"/>
              </a:ext>
            </a:extLst>
          </p:cNvPr>
          <p:cNvGraphicFramePr>
            <a:graphicFrameLocks noGrp="1"/>
          </p:cNvGraphicFramePr>
          <p:nvPr/>
        </p:nvGraphicFramePr>
        <p:xfrm>
          <a:off x="550333" y="1075730"/>
          <a:ext cx="5901811" cy="2372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2068">
                  <a:extLst>
                    <a:ext uri="{9D8B030D-6E8A-4147-A177-3AD203B41FA5}">
                      <a16:colId xmlns:a16="http://schemas.microsoft.com/office/drawing/2014/main" val="3583023989"/>
                    </a:ext>
                  </a:extLst>
                </a:gridCol>
                <a:gridCol w="4869743">
                  <a:extLst>
                    <a:ext uri="{9D8B030D-6E8A-4147-A177-3AD203B41FA5}">
                      <a16:colId xmlns:a16="http://schemas.microsoft.com/office/drawing/2014/main" val="4283671770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Item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Frequent Patterns Generated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10216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{&lt;c,p:3&gt;}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5438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{&lt;f,m:3&gt;, &lt;c,m:3&gt;, &lt;a,m:3&gt;, &lt;f,m:2&gt;, &lt;f,c,m:3&gt;}, &lt;f,a,m:3&gt;, &lt;c,a,m:3&gt;, &lt;f,c,a,m:3&gt;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134579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Empty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7555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{&lt;f,a:3&gt;, &lt;c,a:3&gt;, &lt;f,c,a:3&gt;}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4070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&lt;f,c:3&gt;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613963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Empty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29369"/>
                  </a:ext>
                </a:extLst>
              </a:tr>
            </a:tbl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055C56E9-E8DA-C868-8D44-CEF77F5A3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33" y="4114800"/>
            <a:ext cx="1739900" cy="183832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b="1" i="1" u="sng">
                <a:latin typeface="Times New Roman" pitchFamily="18" charset="0"/>
                <a:cs typeface="Times New Roman" pitchFamily="18" charset="0"/>
              </a:rPr>
              <a:t>Item  frequency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latin typeface="Times New Roman" pitchFamily="18" charset="0"/>
                <a:cs typeface="Times New Roman" pitchFamily="18" charset="0"/>
              </a:rPr>
              <a:t>p	3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8743BF7-16E4-A541-D927-5B6E44548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08" y="3840163"/>
            <a:ext cx="2097087" cy="25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b="1" i="1">
                <a:latin typeface="Times New Roman" pitchFamily="18" charset="0"/>
                <a:cs typeface="Times New Roman" pitchFamily="18" charset="0"/>
              </a:rPr>
              <a:t>min_support = 3</a:t>
            </a:r>
            <a:endParaRPr lang="en-US" sz="2400" b="1" u="sng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B35E97-3421-F9DF-DC0E-799EEF8678C5}"/>
              </a:ext>
            </a:extLst>
          </p:cNvPr>
          <p:cNvSpPr txBox="1"/>
          <p:nvPr/>
        </p:nvSpPr>
        <p:spPr>
          <a:xfrm>
            <a:off x="3429000" y="4186752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-&gt;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23C0A-68BB-FAC0-0ABD-302DA3E7D743}"/>
              </a:ext>
            </a:extLst>
          </p:cNvPr>
          <p:cNvSpPr txBox="1"/>
          <p:nvPr/>
        </p:nvSpPr>
        <p:spPr>
          <a:xfrm>
            <a:off x="3254536" y="3564040"/>
            <a:ext cx="187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Rules from row 4: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C7D3D3-3930-6DF7-AF49-1C5DF1781685}"/>
              </a:ext>
            </a:extLst>
          </p:cNvPr>
          <p:cNvSpPr txBox="1"/>
          <p:nvPr/>
        </p:nvSpPr>
        <p:spPr>
          <a:xfrm>
            <a:off x="3429000" y="490300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-&gt;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E2998-DABB-307A-3197-8B959B0EAF14}"/>
              </a:ext>
            </a:extLst>
          </p:cNvPr>
          <p:cNvSpPr txBox="1"/>
          <p:nvPr/>
        </p:nvSpPr>
        <p:spPr>
          <a:xfrm>
            <a:off x="3429000" y="4548615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-&gt; 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41E81-A22B-5964-3DAE-DD84432B062C}"/>
              </a:ext>
            </a:extLst>
          </p:cNvPr>
          <p:cNvSpPr txBox="1"/>
          <p:nvPr/>
        </p:nvSpPr>
        <p:spPr>
          <a:xfrm>
            <a:off x="3440623" y="524993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-&gt;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A17C4-6445-A8B6-BDA3-2B947D201090}"/>
              </a:ext>
            </a:extLst>
          </p:cNvPr>
          <p:cNvSpPr txBox="1"/>
          <p:nvPr/>
        </p:nvSpPr>
        <p:spPr>
          <a:xfrm>
            <a:off x="3429000" y="5626735"/>
            <a:ext cx="99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{f, c} -&gt; a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B1977AE-9D7F-B173-2C46-4267C5D1EEC9}"/>
              </a:ext>
            </a:extLst>
          </p:cNvPr>
          <p:cNvSpPr/>
          <p:nvPr/>
        </p:nvSpPr>
        <p:spPr>
          <a:xfrm>
            <a:off x="4086552" y="4241914"/>
            <a:ext cx="352257" cy="13520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1E3FC-29D0-ABE8-EFDF-43F35B95D699}"/>
              </a:ext>
            </a:extLst>
          </p:cNvPr>
          <p:cNvSpPr txBox="1"/>
          <p:nvPr/>
        </p:nvSpPr>
        <p:spPr>
          <a:xfrm>
            <a:off x="4621903" y="4548615"/>
            <a:ext cx="4054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calculate it the same as done in the previous slide and select only those rules above the minimum confidence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0EE59-93EB-D750-E98A-8CAA4EF506B5}"/>
              </a:ext>
            </a:extLst>
          </p:cNvPr>
          <p:cNvSpPr txBox="1"/>
          <p:nvPr/>
        </p:nvSpPr>
        <p:spPr>
          <a:xfrm>
            <a:off x="3415223" y="5940905"/>
            <a:ext cx="99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{f, a} -&gt; 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C5F6C9-64DA-675B-5CF6-21381465F578}"/>
              </a:ext>
            </a:extLst>
          </p:cNvPr>
          <p:cNvSpPr txBox="1"/>
          <p:nvPr/>
        </p:nvSpPr>
        <p:spPr>
          <a:xfrm>
            <a:off x="3428596" y="6232668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{a, c} -&gt; 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5DB58E-A018-E3C6-7186-3D4D878AF490}"/>
              </a:ext>
            </a:extLst>
          </p:cNvPr>
          <p:cNvSpPr txBox="1"/>
          <p:nvPr/>
        </p:nvSpPr>
        <p:spPr>
          <a:xfrm>
            <a:off x="3415223" y="6520934"/>
            <a:ext cx="99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{f, c} -&gt;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949485-F67E-975E-4E85-D670F0672C0E}"/>
              </a:ext>
            </a:extLst>
          </p:cNvPr>
          <p:cNvSpPr txBox="1"/>
          <p:nvPr/>
        </p:nvSpPr>
        <p:spPr>
          <a:xfrm>
            <a:off x="4876800" y="5638469"/>
            <a:ext cx="104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-&gt; {f, c}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446303-ADFE-2F86-BE0A-374BC199E517}"/>
              </a:ext>
            </a:extLst>
          </p:cNvPr>
          <p:cNvSpPr txBox="1"/>
          <p:nvPr/>
        </p:nvSpPr>
        <p:spPr>
          <a:xfrm>
            <a:off x="4854556" y="5926141"/>
            <a:ext cx="99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-&gt; {f, a}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4D3066-9E43-3BCE-9E68-EEFFD2878C3F}"/>
              </a:ext>
            </a:extLst>
          </p:cNvPr>
          <p:cNvSpPr txBox="1"/>
          <p:nvPr/>
        </p:nvSpPr>
        <p:spPr>
          <a:xfrm>
            <a:off x="4867929" y="6217904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-&gt; {a, c}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0A2D9C-AB85-6ECB-7FC9-FDD5E15DC29F}"/>
              </a:ext>
            </a:extLst>
          </p:cNvPr>
          <p:cNvSpPr txBox="1"/>
          <p:nvPr/>
        </p:nvSpPr>
        <p:spPr>
          <a:xfrm>
            <a:off x="4854556" y="6506170"/>
            <a:ext cx="99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-&gt; {f, c}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1B5A5-AD38-5051-20EF-9AF27599FBB4}"/>
              </a:ext>
            </a:extLst>
          </p:cNvPr>
          <p:cNvSpPr/>
          <p:nvPr/>
        </p:nvSpPr>
        <p:spPr>
          <a:xfrm>
            <a:off x="3288403" y="5662208"/>
            <a:ext cx="2667000" cy="3065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07878"/>
      </p:ext>
    </p:extLst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Why Is 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Frequent Pattern Growth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Fast?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077200" cy="53340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Performance studies show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FP-growth is faster than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Apriori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is also scalable</a:t>
            </a:r>
          </a:p>
          <a:p>
            <a:pPr eaLnBrk="1" hangingPunct="1">
              <a:lnSpc>
                <a:spcPct val="13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Reasoning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candidate generation, no candidate test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Uses compact data structure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Eliminates repeated database scan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Basic operation is counting and FP-tree building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3446</TotalTime>
  <Words>4362</Words>
  <Application>Microsoft Macintosh PowerPoint</Application>
  <PresentationFormat>On-screen Show (4:3)</PresentationFormat>
  <Paragraphs>748</Paragraphs>
  <Slides>47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Arial</vt:lpstr>
      <vt:lpstr>Calibri</vt:lpstr>
      <vt:lpstr>Cambria Math</vt:lpstr>
      <vt:lpstr>Symbol</vt:lpstr>
      <vt:lpstr>Tahoma</vt:lpstr>
      <vt:lpstr>Times New Roman</vt:lpstr>
      <vt:lpstr>Verdana</vt:lpstr>
      <vt:lpstr>Wingdings</vt:lpstr>
      <vt:lpstr>Office Theme</vt:lpstr>
      <vt:lpstr>Document</vt:lpstr>
      <vt:lpstr>Equation</vt:lpstr>
      <vt:lpstr>Worksheet</vt:lpstr>
      <vt:lpstr>VISIO</vt:lpstr>
      <vt:lpstr>Visio</vt:lpstr>
      <vt:lpstr>Association Analysis</vt:lpstr>
      <vt:lpstr>Scenario</vt:lpstr>
      <vt:lpstr>Association Analysis</vt:lpstr>
      <vt:lpstr>Contd…</vt:lpstr>
      <vt:lpstr>Frequent pattern mining</vt:lpstr>
      <vt:lpstr>Market Basket analysis A typical example of frequent pattern(item set) mining for association rules. </vt:lpstr>
      <vt:lpstr>Definition: Frequent Itemset</vt:lpstr>
      <vt:lpstr>Definition: Association Rule</vt:lpstr>
      <vt:lpstr>Definition: Association Rule</vt:lpstr>
      <vt:lpstr>Example1</vt:lpstr>
      <vt:lpstr>Example2</vt:lpstr>
      <vt:lpstr>Association Rule Mining Task</vt:lpstr>
      <vt:lpstr>Mining Association Rules</vt:lpstr>
      <vt:lpstr>Mining Association Rules</vt:lpstr>
      <vt:lpstr>Frequent Itemset Generation</vt:lpstr>
      <vt:lpstr>Reducing Number of Candidates</vt:lpstr>
      <vt:lpstr>Example</vt:lpstr>
      <vt:lpstr>Contd…</vt:lpstr>
      <vt:lpstr>Illustrating Apriori purning Principle</vt:lpstr>
      <vt:lpstr>The Apriori Algorithm (the general idea)</vt:lpstr>
      <vt:lpstr>Generating association rules from frequent itemsets</vt:lpstr>
      <vt:lpstr>The Apriori Algorithm — Example1</vt:lpstr>
      <vt:lpstr>Contd…</vt:lpstr>
      <vt:lpstr>Contd…</vt:lpstr>
      <vt:lpstr>The Apriori Algorithm—An Example 1 </vt:lpstr>
      <vt:lpstr>The Apriori Algorithm — Example 2</vt:lpstr>
      <vt:lpstr>Homework</vt:lpstr>
      <vt:lpstr>Problems with A-priori Algorithms</vt:lpstr>
      <vt:lpstr>Frequent pattern growth (FP-growth): </vt:lpstr>
      <vt:lpstr>FP-tree Construction from a Transactional DB</vt:lpstr>
      <vt:lpstr>FP-tree Construction</vt:lpstr>
      <vt:lpstr>FP-tree Construction</vt:lpstr>
      <vt:lpstr>FP-tree Construction</vt:lpstr>
      <vt:lpstr>FP-tree Construction</vt:lpstr>
      <vt:lpstr>FP-tree Construction</vt:lpstr>
      <vt:lpstr>FP-tree Construction</vt:lpstr>
      <vt:lpstr>FP-tree Construction</vt:lpstr>
      <vt:lpstr>FP-tree Construction</vt:lpstr>
      <vt:lpstr>FP-tree Construction</vt:lpstr>
      <vt:lpstr>Benefits of the FP-tree Structure</vt:lpstr>
      <vt:lpstr>Mining Frequent Patterns Using FP-tree</vt:lpstr>
      <vt:lpstr>Mining Frequent Patterns Using the FP-tree (cont’d)</vt:lpstr>
      <vt:lpstr>Mining Frequent Patterns Using the FP-tree (cont’d)</vt:lpstr>
      <vt:lpstr>Conditional Pattern-Bases for the example</vt:lpstr>
      <vt:lpstr>PowerPoint Presentation</vt:lpstr>
      <vt:lpstr>PowerPoint Presentation</vt:lpstr>
      <vt:lpstr>Why Is Frequent Pattern Growth Fast?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Office</cp:lastModifiedBy>
  <cp:revision>54</cp:revision>
  <dcterms:created xsi:type="dcterms:W3CDTF">2018-06-06T12:34:41Z</dcterms:created>
  <dcterms:modified xsi:type="dcterms:W3CDTF">2026-03-18T05:08:22Z</dcterms:modified>
</cp:coreProperties>
</file>